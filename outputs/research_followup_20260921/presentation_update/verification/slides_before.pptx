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F74DFAD-7EDC-4E98-B434-54EEA7EA7E2C}">
  <a:tblStyle styleId="{1F74DFAD-7EDC-4E98-B434-54EEA7EA7E2C}"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h2b08d32092d044ad_2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h2b08d32092d044ad_2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Updated week of21September. Sources: outputs/week_20260921/evidence/, outputs/week_20260921/capacity_strict/, outputs/research_execution_20260921/. Original pilot:3/4 final MIP target hits. C1 follow-up additional work, never combined into an equal-budget4/4 claim. Shared station capacity and duplicate-trip cleanup scopes differ across campaigns.</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h2b08d32092d044ad_2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h2b08d32092d044ad_2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Source: outputs/week_20260921/evidence/k8_witness/. Full original Gurobi logs and SHA256 receipts are in the evidence index. LP fleet is fractional route weight; pricing-certified weighted-objective endpoint. Pool MIP: numerical optimality within a fixed finite column pool only. Adding witness routes is a diagnostic and uses known sequential solutions; it is not the autonomous diving algorithm. Four cases C1/C3/C4/C5.</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h2b08d32092d044ad_2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h2b08d32092d044ad_2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C1 fleet proof, lines 155–156:</a:t>
            </a:r>
            <a:endParaRPr/>
          </a:p>
          <a:p>
            <a:pPr indent="0" lvl="0" marL="0" rtl="0" algn="l">
              <a:spcBef>
                <a:spcPts val="0"/>
              </a:spcBef>
              <a:spcAft>
                <a:spcPts val="0"/>
              </a:spcAft>
              <a:buClr>
                <a:schemeClr val="dk1"/>
              </a:buClr>
              <a:buSzPts val="1100"/>
              <a:buFont typeface="Arial"/>
              <a:buNone/>
            </a:pPr>
            <a:r>
              <a:rPr lang="en"/>
              <a:t>https://github.com/ndandnd/EVSP-DR/blob/ca1dda82247db995ffd0d524e045430ea197ec13/outputs/week_20260921/evidence/k8_witness/c1_k08/control/391804_r0/gurobi.log#L155</a:t>
            </a:r>
            <a:endParaRPr/>
          </a:p>
          <a:p>
            <a:pPr indent="0" lvl="0" marL="0" rtl="0" algn="l">
              <a:spcBef>
                <a:spcPts val="0"/>
              </a:spcBef>
              <a:spcAft>
                <a:spcPts val="0"/>
              </a:spcAft>
              <a:buClr>
                <a:schemeClr val="dk1"/>
              </a:buClr>
              <a:buSzPts val="1100"/>
              <a:buFont typeface="Arial"/>
              <a:buNone/>
            </a:pPr>
            <a:r>
              <a:rPr lang="en"/>
              <a:t>After adding eight sequential routes, line 112:</a:t>
            </a:r>
            <a:endParaRPr/>
          </a:p>
          <a:p>
            <a:pPr indent="0" lvl="0" marL="0" rtl="0" algn="l">
              <a:spcBef>
                <a:spcPts val="0"/>
              </a:spcBef>
              <a:spcAft>
                <a:spcPts val="0"/>
              </a:spcAft>
              <a:buClr>
                <a:schemeClr val="dk1"/>
              </a:buClr>
              <a:buSzPts val="1100"/>
              <a:buFont typeface="Arial"/>
              <a:buNone/>
            </a:pPr>
            <a:r>
              <a:rPr lang="en"/>
              <a:t>https://github.com/ndandnd/EVSP-DR/blob/ca1dda82247db995ffd0d524e045430ea197ec13/outputs/week_20260921/evidence/k8_witness/c1_k08/augmented/391805_r0/gurobi.log#L112</a:t>
            </a:r>
            <a:endParaRPr/>
          </a:p>
          <a:p>
            <a:pPr indent="0" lvl="0" marL="0" rtl="0" algn="l">
              <a:spcBef>
                <a:spcPts val="0"/>
              </a:spcBef>
              <a:spcAft>
                <a:spcPts val="0"/>
              </a:spcAft>
              <a:buClr>
                <a:schemeClr val="dk1"/>
              </a:buClr>
              <a:buSzPts val="1100"/>
              <a:buFont typeface="Arial"/>
              <a:buNone/>
            </a:pPr>
            <a:r>
              <a:rPr lang="en"/>
              <a:t>Local root: /Users/nadan/Documents/projects/demandresponse/outputs/week_20260921/evidence/</a:t>
            </a:r>
            <a:endParaRPr/>
          </a:p>
          <a:p>
            <a:pPr indent="0" lvl="0" marL="0" rtl="0" algn="l">
              <a:spcBef>
                <a:spcPts val="0"/>
              </a:spcBef>
              <a:spcAft>
                <a:spcPts val="0"/>
              </a:spcAft>
              <a:buClr>
                <a:schemeClr val="dk1"/>
              </a:buClr>
              <a:buSzPts val="1100"/>
              <a:buFont typeface="Arial"/>
              <a:buNone/>
            </a:pPr>
            <a:r>
              <a:rPr lang="en"/>
              <a:t>Model size: line 19; unit bus costs: line 24; root relaxation eight: line 53. Objective nine and bound nine prove the fixed-pool fleet optimum to Gurobi's numerical tolerance. The later charging-stage gap does not invalidate this proof. Full-model minimum nine is not claimed.</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h2b08d32092d044ad_2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h2b08d32092d044ad_2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Evidence: outputs/week_20260921/evidence/witness_analysis.json and forthcoming WHY audit. Distinguish explanation from universal claim: positive reduced cost is relative to a particular LP dual. It does not prove all pricing/enrichment algorithms miss the route. Historical witness injection established missing compatible columns; autonomous diving tests whether altered duals can find them without importing a known solution.</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h2b08d32092d044ad_2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h2b08d32092d044ad_2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Illustrative set-covering example, not a GIRO instance. Dual trip prices50 for all6trips certify old and enlarged LP optimum300. New AD reducedcost+1. Original two disjoint triangles require2integer edges each; addingAD yields3edge perfectmatching. Proof demonstrates compatibility mechanism; not evidence that actual route structure is literally triangles.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f8ecbc5488_6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f8ecbc5488_6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Sources: outputs/week_20260921/evidence/pilot_summary.csv and c1_followup_summary.csv. This is autonomous pricing, separate from adding known sequential witnesses. Original pilot stays3/4. C1 followup628441 has63561unique routes,8 duplicate model columns introduced by generic MIP-start path, no new distinct routes. Same source hashes. Controls use saved pools. Full Gurobi log at evidence/c1_followup/628441_r0/gurobi.log.</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f8ecbc5488_6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f8ecbc5488_6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All 12 fleet searches ran to the 12-hour limit. Every bound is 15; none proves that 15 is impossible. All subsequent charging stages have also finished at their time limit.</a:t>
            </a:r>
            <a:endParaRPr/>
          </a:p>
          <a:p>
            <a:pPr indent="0" lvl="0" marL="0" rtl="0" algn="l">
              <a:spcBef>
                <a:spcPts val="0"/>
              </a:spcBef>
              <a:spcAft>
                <a:spcPts val="0"/>
              </a:spcAft>
              <a:buClr>
                <a:schemeClr val="dk1"/>
              </a:buClr>
              <a:buSzPts val="1100"/>
              <a:buFont typeface="Arial"/>
              <a:buNone/>
            </a:pPr>
            <a:r>
              <a:rPr lang="en"/>
              <a:t>Exact results and paths to all logs:</a:t>
            </a:r>
            <a:endParaRPr/>
          </a:p>
          <a:p>
            <a:pPr indent="0" lvl="0" marL="0" rtl="0" algn="l">
              <a:spcBef>
                <a:spcPts val="0"/>
              </a:spcBef>
              <a:spcAft>
                <a:spcPts val="0"/>
              </a:spcAft>
              <a:buClr>
                <a:schemeClr val="dk1"/>
              </a:buClr>
              <a:buSzPts val="1100"/>
              <a:buFont typeface="Arial"/>
              <a:buNone/>
            </a:pPr>
            <a:r>
              <a:rPr lang="en"/>
              <a:t>https://github.com/ndandnd/EVSP-DR/blob/ca1dda82247db995ffd0d524e045430ea197ec13/outputs/week_20260921/evidence/k15_12h_summary.csv</a:t>
            </a:r>
            <a:endParaRPr/>
          </a:p>
          <a:p>
            <a:pPr indent="0" lvl="0" marL="0" rtl="0" algn="l">
              <a:spcBef>
                <a:spcPts val="0"/>
              </a:spcBef>
              <a:spcAft>
                <a:spcPts val="0"/>
              </a:spcAft>
              <a:buClr>
                <a:schemeClr val="dk1"/>
              </a:buClr>
              <a:buSzPts val="1100"/>
              <a:buFont typeface="Arial"/>
              <a:buNone/>
            </a:pPr>
            <a:r>
              <a:rPr lang="en"/>
              <a:t>Local log folder: /Users/nadan/Documents/projects/demandresponse/outputs/week_20260921/evidence/k15_12h/</a:t>
            </a:r>
            <a:endParaRPr/>
          </a:p>
          <a:p>
            <a:pPr indent="0" lvl="0" marL="0" rtl="0" algn="l">
              <a:spcBef>
                <a:spcPts val="0"/>
              </a:spcBef>
              <a:spcAft>
                <a:spcPts val="0"/>
              </a:spcAft>
              <a:buClr>
                <a:schemeClr val="dk1"/>
              </a:buClr>
              <a:buSzPts val="1100"/>
              <a:buFont typeface="Arial"/>
              <a:buNone/>
            </a:pPr>
            <a:r>
              <a:rPr lang="en"/>
              <a:t>Plain and heuristic-focused arms use the same saved CG pool per chain. They change MIP search settings, not physics. These pools do not enforce shared charging capacity. The incumbents pass physical route replay; duplicate-service cleanup remains separate.</a:t>
            </a:r>
            <a:endParaRPr/>
          </a:p>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f8ecbc5488_6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f8ecbc5488_6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Sources: outputs/week_20260921/capacity_strict/capacity_summary.csv and capacity_on_off.png. Matched shortcut on/off physics; 4hourCG budgets. k1on certified26.87min, other5notcertified. All resulting fleetMIPs optimal only in saved pools; k1 1→1, k2 3→2, k3 21→5. k3on has6duplicates, not dispatchcleaned. Capacity feasibility separatelychecked.</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f8ecbc5488_6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f8ecbc5488_6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Report: outputs/week_20260921/capacity_strict/README.md. Commit35770aae2c08e7d5a356cc3b673e67608e5b1036. Newcampaignstrict_packed_20260921:646674audit,646675k16CG,646676MIP. Packedrepresentationonlyforstrictno-capacityarm; do notconflatewithcapacityshortcut. MaxRSSk15=153.8GiB,k16=211.9GiB. Originalblockeddescendantspreservedonexplicitannotatedholds, historical537227untouched.</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f8ecbc5488_6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f8ecbc5488_6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Source: outputs/week_20260921/cleanup_physics/README.md. Thiscleanupresultusesitsrecordedconstant-powerphysics, notthelaternonlinearmatchedGIROreopt. Existingimplementation663ece9c plusnewopt-inrunnercodex/week-cleanup-20260921. Validatedfallbackretainstraversal; optionalshorteningreplayed. Approximatebounded120sMIP, gap0.0253%; notglobaloptimizationoverallroutings. Remove duplicatedtripservice, notentirebusroutes.</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f8ecbc5488_6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f8ecbc5488_6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Source: outputs/week_20260921/cleanup_physics/one_bus_k5_joint_matched.png andjoint_validation.json. GIRO original duty13414versus maximumoverlap savedCGfee0andsavedpoolfee5buses. Fullfleetall3are5buses/62trips; savedsequencesexactonce. 236.44kWh,15%reserve,PARX60kW,documentedtaper,3minutecharges,.1kWidle,group/sites,onechargerat2190L/4808,perbusterminalfloorsmatchedoriginal. This is posthoc chargingoptimizationofsavedtripsequences, notfreshfullCGundernewphysics. StaticDHDandplatformFIFO/crewnotvalidated. See nextslideforcostscope.</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f8ecbc5488_6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f8ecbc5488_6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Figureandwholefleetmetrics: outputs/week_20260921/cleanup_physics/joint_figure_metrics.json, joint_validation.json, README.md. Baselinefee5total230.6447876705+5×52=490.6447876705. Synthetic08peak tariffunitsnotcurrencyclaim. Endenergytotal250.7183243524kWhallarmswithbijectivemaxoverlapmatching. Fee0GurobistatusOPTIMALwithin1e-4(gap0.00565%);fee5120stimelimitgap0.6504%. Limits: staticreferenceDHD, platform/FIFO/crewunvalidated; capacitiesonlyfivebuscohort,nobackground35buses. Originalfixed-windowchargingreoptremains230.645and52startswithbothfees. This is not proof of optimal GIRO duty charging over all possible windows/sites.</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f8ecbc5488_6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f8ecbc5488_6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Sources: outputs/week_20260921/cleanup_physics/joint_figure_metrics.json and joint_validation.json. Allcostsaregenerictariffcostunits,08peaktariff. Baseline230.6447876705/52starts; fee0electricity158.7068197/42starts;fee5electricity183.714825+150fees. Originalfixed-windowreoptcouldnotmateriallyreducecost. Newtripsequencesareposthocoptimizedwithsamephysics, capacitychecked5buscohort, staticdeadheadapproximation. Fee0gap0.00565%,fee5gap0.6504%.</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Clr>
                <a:schemeClr val="dk1"/>
              </a:buClr>
              <a:buSzPts val="990"/>
              <a:buFont typeface="Arial"/>
              <a:buNone/>
            </a:pPr>
            <a:r>
              <a:rPr lang="en"/>
              <a:t>EVSP–DR</a:t>
            </a:r>
            <a:endParaRPr/>
          </a:p>
          <a:p>
            <a:pPr indent="0" lvl="0" marL="0" rtl="0" algn="ctr">
              <a:spcBef>
                <a:spcPts val="0"/>
              </a:spcBef>
              <a:spcAft>
                <a:spcPts val="0"/>
              </a:spcAft>
              <a:buClr>
                <a:schemeClr val="dk1"/>
              </a:buClr>
              <a:buSzPts val="990"/>
              <a:buFont typeface="Arial"/>
              <a:buNone/>
            </a:pPr>
            <a:r>
              <a:rPr lang="en"/>
              <a:t>Research update</a:t>
            </a:r>
            <a:endParaRPr/>
          </a:p>
          <a:p>
            <a:pPr indent="0" lvl="0" marL="0" rtl="0" algn="ctr">
              <a:spcBef>
                <a:spcPts val="0"/>
              </a:spcBef>
              <a:spcAft>
                <a:spcPts val="0"/>
              </a:spcAft>
              <a:buNone/>
            </a:pPr>
            <a:r>
              <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fontScale="55000" lnSpcReduction="20000"/>
          </a:bodyPr>
          <a:lstStyle/>
          <a:p>
            <a:pPr indent="0" lvl="0" marL="0" rtl="0" algn="ctr">
              <a:spcBef>
                <a:spcPts val="0"/>
              </a:spcBef>
              <a:spcAft>
                <a:spcPts val="0"/>
              </a:spcAft>
              <a:buClr>
                <a:schemeClr val="dk1"/>
              </a:buClr>
              <a:buSzPct val="39286"/>
              <a:buFont typeface="Arial"/>
              <a:buNone/>
            </a:pPr>
            <a:r>
              <a:rPr lang="en"/>
              <a:t>Week of 21 September 2026</a:t>
            </a:r>
            <a:endParaRPr/>
          </a:p>
          <a:p>
            <a:pPr indent="0" lvl="0" marL="0" rtl="0" algn="ctr">
              <a:spcBef>
                <a:spcPts val="0"/>
              </a:spcBef>
              <a:spcAft>
                <a:spcPts val="0"/>
              </a:spcAft>
              <a:buClr>
                <a:schemeClr val="dk1"/>
              </a:buClr>
              <a:buSzPct val="39286"/>
              <a:buFont typeface="Arial"/>
              <a:buNone/>
            </a:pPr>
            <a:r>
              <a:rPr lang="en"/>
              <a:t>Integer routes, charging constraints, and next tests</a:t>
            </a:r>
            <a:endParaRPr/>
          </a:p>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changed this week</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2000"/>
              <a:t>Eight jobs finished; completion is not the same as convergence.</a:t>
            </a:r>
            <a:endParaRPr sz="2000"/>
          </a:p>
          <a:p>
            <a:pPr indent="0" lvl="0" marL="0" rtl="0" algn="l">
              <a:spcBef>
                <a:spcPts val="1200"/>
              </a:spcBef>
              <a:spcAft>
                <a:spcPts val="0"/>
              </a:spcAft>
              <a:buClr>
                <a:schemeClr val="dk1"/>
              </a:buClr>
              <a:buSzPts val="1100"/>
              <a:buFont typeface="Arial"/>
              <a:buNone/>
            </a:pPr>
            <a:r>
              <a:t/>
            </a:r>
            <a:endParaRPr sz="2000"/>
          </a:p>
          <a:p>
            <a:pPr indent="0" lvl="0" marL="0" rtl="0" algn="l">
              <a:spcBef>
                <a:spcPts val="1200"/>
              </a:spcBef>
              <a:spcAft>
                <a:spcPts val="0"/>
              </a:spcAft>
              <a:buClr>
                <a:schemeClr val="dk1"/>
              </a:buClr>
              <a:buSzPts val="1100"/>
              <a:buFont typeface="Arial"/>
              <a:buNone/>
            </a:pPr>
            <a:r>
              <a:rPr lang="en" sz="2000"/>
              <a:t>New pricing recovered 8 buses in 3 of 4 fresh k=8 cases.</a:t>
            </a:r>
            <a:endParaRPr sz="2000"/>
          </a:p>
          <a:p>
            <a:pPr indent="0" lvl="0" marL="0" rtl="0" algn="l">
              <a:spcBef>
                <a:spcPts val="1200"/>
              </a:spcBef>
              <a:spcAft>
                <a:spcPts val="0"/>
              </a:spcAft>
              <a:buClr>
                <a:schemeClr val="dk1"/>
              </a:buClr>
              <a:buSzPts val="1100"/>
              <a:buFont typeface="Arial"/>
              <a:buNone/>
            </a:pPr>
            <a:r>
              <a:rPr lang="en" sz="2000"/>
              <a:t>Chain 1 also reaches 8 when its dive incumbent is passed to MIP.</a:t>
            </a:r>
            <a:endParaRPr sz="2000"/>
          </a:p>
          <a:p>
            <a:pPr indent="0" lvl="0" marL="0" rtl="0" algn="l">
              <a:spcBef>
                <a:spcPts val="1200"/>
              </a:spcBef>
              <a:spcAft>
                <a:spcPts val="0"/>
              </a:spcAft>
              <a:buClr>
                <a:schemeClr val="dk1"/>
              </a:buClr>
              <a:buSzPts val="1100"/>
              <a:buFont typeface="Arial"/>
              <a:buNone/>
            </a:pPr>
            <a:r>
              <a:t/>
            </a:r>
            <a:endParaRPr sz="2000"/>
          </a:p>
          <a:p>
            <a:pPr indent="0" lvl="0" marL="0" rtl="0" algn="l">
              <a:spcBef>
                <a:spcPts val="1200"/>
              </a:spcBef>
              <a:spcAft>
                <a:spcPts val="0"/>
              </a:spcAft>
              <a:buClr>
                <a:schemeClr val="dk1"/>
              </a:buClr>
              <a:buSzPts val="1100"/>
              <a:buFont typeface="Arial"/>
              <a:buNone/>
            </a:pPr>
            <a:r>
              <a:rPr lang="en" sz="2000"/>
              <a:t>Capacity pricing improved; k=2 and k=3 still hit the time limit.</a:t>
            </a:r>
            <a:endParaRPr sz="2000"/>
          </a:p>
          <a:p>
            <a:pPr indent="0" lvl="0" marL="0" rtl="0" algn="l">
              <a:spcBef>
                <a:spcPts val="1200"/>
              </a:spcBef>
              <a:spcAft>
                <a:spcPts val="0"/>
              </a:spcAft>
              <a:buClr>
                <a:schemeClr val="dk1"/>
              </a:buClr>
              <a:buSzPts val="1100"/>
              <a:buFont typeface="Arial"/>
              <a:buNone/>
            </a:pPr>
            <a:r>
              <a:rPr lang="en" sz="2000"/>
              <a:t>The strict large case spent its budget building the graph.</a:t>
            </a:r>
            <a:endParaRPr sz="2000"/>
          </a:p>
          <a:p>
            <a:pPr indent="0" lvl="0" marL="0" rtl="0" algn="l">
              <a:spcBef>
                <a:spcPts val="1200"/>
              </a:spcBef>
              <a:spcAft>
                <a:spcPts val="1200"/>
              </a:spcAft>
              <a:buNone/>
            </a:pPr>
            <a:r>
              <a:t/>
            </a:r>
            <a:endParaRPr sz="20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Four fresh pools exclude an 8-bus solution</a:t>
            </a:r>
            <a:endParaRPr/>
          </a:p>
        </p:txBody>
      </p:sp>
      <p:graphicFrame>
        <p:nvGraphicFramePr>
          <p:cNvPr id="67" name="Google Shape;67;p15"/>
          <p:cNvGraphicFramePr/>
          <p:nvPr/>
        </p:nvGraphicFramePr>
        <p:xfrm>
          <a:off x="952500" y="1619250"/>
          <a:ext cx="3000000" cy="3000000"/>
        </p:xfrm>
        <a:graphic>
          <a:graphicData uri="http://schemas.openxmlformats.org/drawingml/2006/table">
            <a:tbl>
              <a:tblPr>
                <a:noFill/>
                <a:tableStyleId>{1F74DFAD-7EDC-4E98-B434-54EEA7EA7E2C}</a:tableStyleId>
              </a:tblPr>
              <a:tblGrid>
                <a:gridCol w="1447800"/>
                <a:gridCol w="1447800"/>
                <a:gridCol w="1447800"/>
                <a:gridCol w="1447800"/>
                <a:gridCol w="1447800"/>
              </a:tblGrid>
              <a:tr h="381000">
                <a:tc>
                  <a:txBody>
                    <a:bodyPr/>
                    <a:lstStyle/>
                    <a:p>
                      <a:pPr indent="0" lvl="0" marL="0" rtl="0" algn="l">
                        <a:spcBef>
                          <a:spcPts val="0"/>
                        </a:spcBef>
                        <a:spcAft>
                          <a:spcPts val="0"/>
                        </a:spcAft>
                        <a:buNone/>
                      </a:pPr>
                      <a:r>
                        <a:rPr lang="en" sz="2000"/>
                        <a:t>Chain</a:t>
                      </a:r>
                      <a:endParaRPr sz="2000"/>
                    </a:p>
                  </a:txBody>
                  <a:tcPr marT="91425" marB="91425" marR="91425" marL="91425"/>
                </a:tc>
                <a:tc>
                  <a:txBody>
                    <a:bodyPr/>
                    <a:lstStyle/>
                    <a:p>
                      <a:pPr indent="0" lvl="0" marL="0" rtl="0" algn="l">
                        <a:spcBef>
                          <a:spcPts val="0"/>
                        </a:spcBef>
                        <a:spcAft>
                          <a:spcPts val="0"/>
                        </a:spcAft>
                        <a:buNone/>
                      </a:pPr>
                      <a:r>
                        <a:rPr lang="en" sz="2000"/>
                        <a:t>LP weight</a:t>
                      </a:r>
                      <a:endParaRPr sz="2000"/>
                    </a:p>
                  </a:txBody>
                  <a:tcPr marT="91425" marB="91425" marR="91425" marL="91425"/>
                </a:tc>
                <a:tc>
                  <a:txBody>
                    <a:bodyPr/>
                    <a:lstStyle/>
                    <a:p>
                      <a:pPr indent="0" lvl="0" marL="0" rtl="0" algn="l">
                        <a:spcBef>
                          <a:spcPts val="0"/>
                        </a:spcBef>
                        <a:spcAft>
                          <a:spcPts val="0"/>
                        </a:spcAft>
                        <a:buNone/>
                      </a:pPr>
                      <a:r>
                        <a:rPr lang="en" sz="2000"/>
                        <a:t>Pool MIP</a:t>
                      </a:r>
                      <a:endParaRPr sz="2000"/>
                    </a:p>
                  </a:txBody>
                  <a:tcPr marT="91425" marB="91425" marR="91425" marL="91425"/>
                </a:tc>
                <a:tc>
                  <a:txBody>
                    <a:bodyPr/>
                    <a:lstStyle/>
                    <a:p>
                      <a:pPr indent="0" lvl="0" marL="0" rtl="0" algn="l">
                        <a:spcBef>
                          <a:spcPts val="0"/>
                        </a:spcBef>
                        <a:spcAft>
                          <a:spcPts val="0"/>
                        </a:spcAft>
                        <a:buNone/>
                      </a:pPr>
                      <a:r>
                        <a:rPr lang="en" sz="2000"/>
                        <a:t>Added*</a:t>
                      </a:r>
                      <a:endParaRPr sz="2000"/>
                    </a:p>
                  </a:txBody>
                  <a:tcPr marT="91425" marB="91425" marR="91425" marL="91425"/>
                </a:tc>
                <a:tc>
                  <a:txBody>
                    <a:bodyPr/>
                    <a:lstStyle/>
                    <a:p>
                      <a:pPr indent="0" lvl="0" marL="0" rtl="0" algn="l">
                        <a:spcBef>
                          <a:spcPts val="0"/>
                        </a:spcBef>
                        <a:spcAft>
                          <a:spcPts val="0"/>
                        </a:spcAft>
                        <a:buNone/>
                      </a:pPr>
                      <a:r>
                        <a:rPr lang="en" sz="2000"/>
                        <a:t>After*</a:t>
                      </a:r>
                      <a:endParaRPr sz="2000"/>
                    </a:p>
                  </a:txBody>
                  <a:tcPr marT="91425" marB="91425" marR="91425" marL="91425"/>
                </a:tc>
              </a:tr>
              <a:tr h="381000">
                <a:tc>
                  <a:txBody>
                    <a:bodyPr/>
                    <a:lstStyle/>
                    <a:p>
                      <a:pPr indent="0" lvl="0" marL="0" rtl="0" algn="l">
                        <a:spcBef>
                          <a:spcPts val="0"/>
                        </a:spcBef>
                        <a:spcAft>
                          <a:spcPts val="0"/>
                        </a:spcAft>
                        <a:buNone/>
                      </a:pPr>
                      <a:r>
                        <a:rPr lang="en" sz="2000"/>
                        <a:t>C1</a:t>
                      </a:r>
                      <a:endParaRPr sz="2000"/>
                    </a:p>
                  </a:txBody>
                  <a:tcPr marT="91425" marB="91425" marR="91425" marL="91425"/>
                </a:tc>
                <a:tc>
                  <a:txBody>
                    <a:bodyPr/>
                    <a:lstStyle/>
                    <a:p>
                      <a:pPr indent="0" lvl="0" marL="0" rtl="0" algn="l">
                        <a:spcBef>
                          <a:spcPts val="0"/>
                        </a:spcBef>
                        <a:spcAft>
                          <a:spcPts val="0"/>
                        </a:spcAft>
                        <a:buNone/>
                      </a:pPr>
                      <a:r>
                        <a:rPr lang="en" sz="2000"/>
                        <a:t>8</a:t>
                      </a:r>
                      <a:endParaRPr sz="2000"/>
                    </a:p>
                  </a:txBody>
                  <a:tcPr marT="91425" marB="91425" marR="91425" marL="91425"/>
                </a:tc>
                <a:tc>
                  <a:txBody>
                    <a:bodyPr/>
                    <a:lstStyle/>
                    <a:p>
                      <a:pPr indent="0" lvl="0" marL="0" rtl="0" algn="l">
                        <a:spcBef>
                          <a:spcPts val="0"/>
                        </a:spcBef>
                        <a:spcAft>
                          <a:spcPts val="0"/>
                        </a:spcAft>
                        <a:buNone/>
                      </a:pPr>
                      <a:r>
                        <a:rPr lang="en" sz="2000"/>
                        <a:t>9</a:t>
                      </a:r>
                      <a:endParaRPr sz="2000"/>
                    </a:p>
                  </a:txBody>
                  <a:tcPr marT="91425" marB="91425" marR="91425" marL="91425"/>
                </a:tc>
                <a:tc>
                  <a:txBody>
                    <a:bodyPr/>
                    <a:lstStyle/>
                    <a:p>
                      <a:pPr indent="0" lvl="0" marL="0" rtl="0" algn="l">
                        <a:spcBef>
                          <a:spcPts val="0"/>
                        </a:spcBef>
                        <a:spcAft>
                          <a:spcPts val="0"/>
                        </a:spcAft>
                        <a:buNone/>
                      </a:pPr>
                      <a:r>
                        <a:rPr lang="en" sz="2000"/>
                        <a:t>8</a:t>
                      </a:r>
                      <a:endParaRPr sz="2000"/>
                    </a:p>
                  </a:txBody>
                  <a:tcPr marT="91425" marB="91425" marR="91425" marL="91425"/>
                </a:tc>
                <a:tc>
                  <a:txBody>
                    <a:bodyPr/>
                    <a:lstStyle/>
                    <a:p>
                      <a:pPr indent="0" lvl="0" marL="0" rtl="0" algn="l">
                        <a:spcBef>
                          <a:spcPts val="0"/>
                        </a:spcBef>
                        <a:spcAft>
                          <a:spcPts val="0"/>
                        </a:spcAft>
                        <a:buNone/>
                      </a:pPr>
                      <a:r>
                        <a:rPr lang="en" sz="2000"/>
                        <a:t>8</a:t>
                      </a:r>
                      <a:endParaRPr sz="2000"/>
                    </a:p>
                  </a:txBody>
                  <a:tcPr marT="91425" marB="91425" marR="91425" marL="91425"/>
                </a:tc>
              </a:tr>
              <a:tr h="381000">
                <a:tc>
                  <a:txBody>
                    <a:bodyPr/>
                    <a:lstStyle/>
                    <a:p>
                      <a:pPr indent="0" lvl="0" marL="0" rtl="0" algn="l">
                        <a:spcBef>
                          <a:spcPts val="0"/>
                        </a:spcBef>
                        <a:spcAft>
                          <a:spcPts val="0"/>
                        </a:spcAft>
                        <a:buNone/>
                      </a:pPr>
                      <a:r>
                        <a:rPr lang="en" sz="2000"/>
                        <a:t>C3</a:t>
                      </a:r>
                      <a:endParaRPr sz="2000"/>
                    </a:p>
                  </a:txBody>
                  <a:tcPr marT="91425" marB="91425" marR="91425" marL="91425"/>
                </a:tc>
                <a:tc>
                  <a:txBody>
                    <a:bodyPr/>
                    <a:lstStyle/>
                    <a:p>
                      <a:pPr indent="0" lvl="0" marL="0" rtl="0" algn="l">
                        <a:spcBef>
                          <a:spcPts val="0"/>
                        </a:spcBef>
                        <a:spcAft>
                          <a:spcPts val="0"/>
                        </a:spcAft>
                        <a:buNone/>
                      </a:pPr>
                      <a:r>
                        <a:rPr lang="en" sz="2000"/>
                        <a:t>8</a:t>
                      </a:r>
                      <a:endParaRPr sz="2000"/>
                    </a:p>
                  </a:txBody>
                  <a:tcPr marT="91425" marB="91425" marR="91425" marL="91425"/>
                </a:tc>
                <a:tc>
                  <a:txBody>
                    <a:bodyPr/>
                    <a:lstStyle/>
                    <a:p>
                      <a:pPr indent="0" lvl="0" marL="0" rtl="0" algn="l">
                        <a:spcBef>
                          <a:spcPts val="0"/>
                        </a:spcBef>
                        <a:spcAft>
                          <a:spcPts val="0"/>
                        </a:spcAft>
                        <a:buNone/>
                      </a:pPr>
                      <a:r>
                        <a:rPr lang="en" sz="2000"/>
                        <a:t>9</a:t>
                      </a:r>
                      <a:endParaRPr sz="2000"/>
                    </a:p>
                  </a:txBody>
                  <a:tcPr marT="91425" marB="91425" marR="91425" marL="91425"/>
                </a:tc>
                <a:tc>
                  <a:txBody>
                    <a:bodyPr/>
                    <a:lstStyle/>
                    <a:p>
                      <a:pPr indent="0" lvl="0" marL="0" rtl="0" algn="l">
                        <a:spcBef>
                          <a:spcPts val="0"/>
                        </a:spcBef>
                        <a:spcAft>
                          <a:spcPts val="0"/>
                        </a:spcAft>
                        <a:buNone/>
                      </a:pPr>
                      <a:r>
                        <a:rPr lang="en" sz="2000"/>
                        <a:t>8</a:t>
                      </a:r>
                      <a:endParaRPr sz="2000"/>
                    </a:p>
                  </a:txBody>
                  <a:tcPr marT="91425" marB="91425" marR="91425" marL="91425"/>
                </a:tc>
                <a:tc>
                  <a:txBody>
                    <a:bodyPr/>
                    <a:lstStyle/>
                    <a:p>
                      <a:pPr indent="0" lvl="0" marL="0" rtl="0" algn="l">
                        <a:spcBef>
                          <a:spcPts val="0"/>
                        </a:spcBef>
                        <a:spcAft>
                          <a:spcPts val="0"/>
                        </a:spcAft>
                        <a:buNone/>
                      </a:pPr>
                      <a:r>
                        <a:rPr lang="en" sz="2000"/>
                        <a:t>8</a:t>
                      </a:r>
                      <a:endParaRPr sz="2000"/>
                    </a:p>
                  </a:txBody>
                  <a:tcPr marT="91425" marB="91425" marR="91425" marL="91425"/>
                </a:tc>
              </a:tr>
              <a:tr h="381000">
                <a:tc>
                  <a:txBody>
                    <a:bodyPr/>
                    <a:lstStyle/>
                    <a:p>
                      <a:pPr indent="0" lvl="0" marL="0" rtl="0" algn="l">
                        <a:spcBef>
                          <a:spcPts val="0"/>
                        </a:spcBef>
                        <a:spcAft>
                          <a:spcPts val="0"/>
                        </a:spcAft>
                        <a:buNone/>
                      </a:pPr>
                      <a:r>
                        <a:rPr lang="en" sz="2000"/>
                        <a:t>C4</a:t>
                      </a:r>
                      <a:endParaRPr sz="2000"/>
                    </a:p>
                  </a:txBody>
                  <a:tcPr marT="91425" marB="91425" marR="91425" marL="91425"/>
                </a:tc>
                <a:tc>
                  <a:txBody>
                    <a:bodyPr/>
                    <a:lstStyle/>
                    <a:p>
                      <a:pPr indent="0" lvl="0" marL="0" rtl="0" algn="l">
                        <a:spcBef>
                          <a:spcPts val="0"/>
                        </a:spcBef>
                        <a:spcAft>
                          <a:spcPts val="0"/>
                        </a:spcAft>
                        <a:buNone/>
                      </a:pPr>
                      <a:r>
                        <a:rPr lang="en" sz="2000"/>
                        <a:t>8</a:t>
                      </a:r>
                      <a:endParaRPr sz="2000"/>
                    </a:p>
                  </a:txBody>
                  <a:tcPr marT="91425" marB="91425" marR="91425" marL="91425"/>
                </a:tc>
                <a:tc>
                  <a:txBody>
                    <a:bodyPr/>
                    <a:lstStyle/>
                    <a:p>
                      <a:pPr indent="0" lvl="0" marL="0" rtl="0" algn="l">
                        <a:spcBef>
                          <a:spcPts val="0"/>
                        </a:spcBef>
                        <a:spcAft>
                          <a:spcPts val="0"/>
                        </a:spcAft>
                        <a:buNone/>
                      </a:pPr>
                      <a:r>
                        <a:rPr lang="en" sz="2000"/>
                        <a:t>9</a:t>
                      </a:r>
                      <a:endParaRPr sz="2000"/>
                    </a:p>
                  </a:txBody>
                  <a:tcPr marT="91425" marB="91425" marR="91425" marL="91425"/>
                </a:tc>
                <a:tc>
                  <a:txBody>
                    <a:bodyPr/>
                    <a:lstStyle/>
                    <a:p>
                      <a:pPr indent="0" lvl="0" marL="0" rtl="0" algn="l">
                        <a:spcBef>
                          <a:spcPts val="0"/>
                        </a:spcBef>
                        <a:spcAft>
                          <a:spcPts val="0"/>
                        </a:spcAft>
                        <a:buNone/>
                      </a:pPr>
                      <a:r>
                        <a:rPr lang="en" sz="2000"/>
                        <a:t>8</a:t>
                      </a:r>
                      <a:endParaRPr sz="2000"/>
                    </a:p>
                  </a:txBody>
                  <a:tcPr marT="91425" marB="91425" marR="91425" marL="91425"/>
                </a:tc>
                <a:tc>
                  <a:txBody>
                    <a:bodyPr/>
                    <a:lstStyle/>
                    <a:p>
                      <a:pPr indent="0" lvl="0" marL="0" rtl="0" algn="l">
                        <a:spcBef>
                          <a:spcPts val="0"/>
                        </a:spcBef>
                        <a:spcAft>
                          <a:spcPts val="0"/>
                        </a:spcAft>
                        <a:buNone/>
                      </a:pPr>
                      <a:r>
                        <a:rPr lang="en" sz="2000"/>
                        <a:t>8</a:t>
                      </a:r>
                      <a:endParaRPr sz="2000"/>
                    </a:p>
                  </a:txBody>
                  <a:tcPr marT="91425" marB="91425" marR="91425" marL="91425"/>
                </a:tc>
              </a:tr>
              <a:tr h="381000">
                <a:tc>
                  <a:txBody>
                    <a:bodyPr/>
                    <a:lstStyle/>
                    <a:p>
                      <a:pPr indent="0" lvl="0" marL="0" rtl="0" algn="l">
                        <a:spcBef>
                          <a:spcPts val="0"/>
                        </a:spcBef>
                        <a:spcAft>
                          <a:spcPts val="0"/>
                        </a:spcAft>
                        <a:buNone/>
                      </a:pPr>
                      <a:r>
                        <a:rPr lang="en" sz="2000"/>
                        <a:t>C5</a:t>
                      </a:r>
                      <a:endParaRPr sz="2000"/>
                    </a:p>
                  </a:txBody>
                  <a:tcPr marT="91425" marB="91425" marR="91425" marL="91425"/>
                </a:tc>
                <a:tc>
                  <a:txBody>
                    <a:bodyPr/>
                    <a:lstStyle/>
                    <a:p>
                      <a:pPr indent="0" lvl="0" marL="0" rtl="0" algn="l">
                        <a:spcBef>
                          <a:spcPts val="0"/>
                        </a:spcBef>
                        <a:spcAft>
                          <a:spcPts val="0"/>
                        </a:spcAft>
                        <a:buNone/>
                      </a:pPr>
                      <a:r>
                        <a:rPr lang="en" sz="2000"/>
                        <a:t>8</a:t>
                      </a:r>
                      <a:endParaRPr sz="2000"/>
                    </a:p>
                  </a:txBody>
                  <a:tcPr marT="91425" marB="91425" marR="91425" marL="91425"/>
                </a:tc>
                <a:tc>
                  <a:txBody>
                    <a:bodyPr/>
                    <a:lstStyle/>
                    <a:p>
                      <a:pPr indent="0" lvl="0" marL="0" rtl="0" algn="l">
                        <a:spcBef>
                          <a:spcPts val="0"/>
                        </a:spcBef>
                        <a:spcAft>
                          <a:spcPts val="0"/>
                        </a:spcAft>
                        <a:buNone/>
                      </a:pPr>
                      <a:r>
                        <a:rPr lang="en" sz="2000"/>
                        <a:t>9</a:t>
                      </a:r>
                      <a:endParaRPr sz="2000"/>
                    </a:p>
                  </a:txBody>
                  <a:tcPr marT="91425" marB="91425" marR="91425" marL="91425"/>
                </a:tc>
                <a:tc>
                  <a:txBody>
                    <a:bodyPr/>
                    <a:lstStyle/>
                    <a:p>
                      <a:pPr indent="0" lvl="0" marL="0" rtl="0" algn="l">
                        <a:spcBef>
                          <a:spcPts val="0"/>
                        </a:spcBef>
                        <a:spcAft>
                          <a:spcPts val="0"/>
                        </a:spcAft>
                        <a:buNone/>
                      </a:pPr>
                      <a:r>
                        <a:rPr lang="en" sz="2000"/>
                        <a:t>8</a:t>
                      </a:r>
                      <a:endParaRPr sz="2000"/>
                    </a:p>
                  </a:txBody>
                  <a:tcPr marT="91425" marB="91425" marR="91425" marL="91425"/>
                </a:tc>
                <a:tc>
                  <a:txBody>
                    <a:bodyPr/>
                    <a:lstStyle/>
                    <a:p>
                      <a:pPr indent="0" lvl="0" marL="0" rtl="0" algn="l">
                        <a:spcBef>
                          <a:spcPts val="0"/>
                        </a:spcBef>
                        <a:spcAft>
                          <a:spcPts val="0"/>
                        </a:spcAft>
                        <a:buNone/>
                      </a:pPr>
                      <a:r>
                        <a:rPr lang="en" sz="2000"/>
                        <a:t>8</a:t>
                      </a:r>
                      <a:endParaRPr sz="2000"/>
                    </a:p>
                  </a:txBody>
                  <a:tcPr marT="91425" marB="91425" marR="91425" marL="91425"/>
                </a:tc>
              </a:tr>
            </a:tbl>
          </a:graphicData>
        </a:graphic>
      </p:graphicFrame>
      <p:sp>
        <p:nvSpPr>
          <p:cNvPr id="68" name="Google Shape;68;p15"/>
          <p:cNvSpPr txBox="1"/>
          <p:nvPr/>
        </p:nvSpPr>
        <p:spPr>
          <a:xfrm>
            <a:off x="411025" y="4376975"/>
            <a:ext cx="8354100" cy="62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700">
                <a:solidFill>
                  <a:schemeClr val="dk2"/>
                </a:solidFill>
              </a:rPr>
              <a:t>* Add known sequential routes to the fresh pool, then re-solve.</a:t>
            </a:r>
            <a:endParaRPr sz="1700">
              <a:solidFill>
                <a:schemeClr val="dk2"/>
              </a:solidFill>
            </a:endParaRPr>
          </a:p>
          <a:p>
            <a:pPr indent="0" lvl="0" marL="0" rtl="0" algn="l">
              <a:spcBef>
                <a:spcPts val="0"/>
              </a:spcBef>
              <a:spcAft>
                <a:spcPts val="0"/>
              </a:spcAft>
              <a:buClr>
                <a:schemeClr val="dk1"/>
              </a:buClr>
              <a:buSzPts val="1100"/>
              <a:buFont typeface="Arial"/>
              <a:buNone/>
            </a:pPr>
            <a:r>
              <a:rPr lang="en" sz="1700">
                <a:solidFill>
                  <a:schemeClr val="dk2"/>
                </a:solidFill>
              </a:rPr>
              <a:t>Both MIP columns show proved fleet minima within their pools.</a:t>
            </a:r>
            <a:endParaRPr sz="1700">
              <a:solidFill>
                <a:schemeClr val="dk2"/>
              </a:solidFill>
            </a:endParaRPr>
          </a:p>
          <a:p>
            <a:pPr indent="0" lvl="0" marL="0" rtl="0" algn="l">
              <a:spcBef>
                <a:spcPts val="0"/>
              </a:spcBef>
              <a:spcAft>
                <a:spcPts val="0"/>
              </a:spcAft>
              <a:buNone/>
            </a:pPr>
            <a:r>
              <a:t/>
            </a:r>
            <a:endParaRPr sz="1700">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Read the proof in Gurobi’s log</a:t>
            </a:r>
            <a:endParaRPr/>
          </a:p>
        </p:txBody>
      </p:sp>
      <p:sp>
        <p:nvSpPr>
          <p:cNvPr id="74" name="Google Shape;74;p1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2000"/>
              <a:t>Chain 1, k=8: stage 1 minimizes only the number of buses.</a:t>
            </a:r>
            <a:endParaRPr sz="2000"/>
          </a:p>
          <a:p>
            <a:pPr indent="0" lvl="0" marL="0" rtl="0" algn="l">
              <a:spcBef>
                <a:spcPts val="1200"/>
              </a:spcBef>
              <a:spcAft>
                <a:spcPts val="0"/>
              </a:spcAft>
              <a:buClr>
                <a:schemeClr val="dk1"/>
              </a:buClr>
              <a:buSzPts val="1100"/>
              <a:buFont typeface="Arial"/>
              <a:buNone/>
            </a:pPr>
            <a:r>
              <a:rPr lang="en" sz="2000"/>
              <a:t>194 trip rows • 39,940 route variables</a:t>
            </a:r>
            <a:endParaRPr sz="2000"/>
          </a:p>
          <a:p>
            <a:pPr indent="0" lvl="0" marL="0" rtl="0" algn="l">
              <a:spcBef>
                <a:spcPts val="1200"/>
              </a:spcBef>
              <a:spcAft>
                <a:spcPts val="0"/>
              </a:spcAft>
              <a:buClr>
                <a:schemeClr val="dk1"/>
              </a:buClr>
              <a:buSzPts val="1100"/>
              <a:buFont typeface="Arial"/>
              <a:buNone/>
            </a:pPr>
            <a:r>
              <a:rPr lang="en" sz="2000"/>
              <a:t>“Optimal solution found (tolerance 1.00e-04)”</a:t>
            </a:r>
            <a:endParaRPr sz="2000"/>
          </a:p>
          <a:p>
            <a:pPr indent="0" lvl="0" marL="0" rtl="0" algn="l">
              <a:spcBef>
                <a:spcPts val="1200"/>
              </a:spcBef>
              <a:spcAft>
                <a:spcPts val="0"/>
              </a:spcAft>
              <a:buClr>
                <a:schemeClr val="dk1"/>
              </a:buClr>
              <a:buSzPts val="1100"/>
              <a:buFont typeface="Arial"/>
              <a:buNone/>
            </a:pPr>
            <a:r>
              <a:rPr lang="en" sz="2000"/>
              <a:t>“Best objective 9 … best bound 9 … gap 0.0000%”</a:t>
            </a:r>
            <a:endParaRPr sz="2000"/>
          </a:p>
          <a:p>
            <a:pPr indent="0" lvl="0" marL="0" rtl="0" algn="l">
              <a:spcBef>
                <a:spcPts val="1200"/>
              </a:spcBef>
              <a:spcAft>
                <a:spcPts val="0"/>
              </a:spcAft>
              <a:buClr>
                <a:schemeClr val="dk1"/>
              </a:buClr>
              <a:buSzPts val="1100"/>
              <a:buFont typeface="Arial"/>
              <a:buNone/>
            </a:pPr>
            <a:r>
              <a:rPr lang="en" sz="2000"/>
              <a:t>Incumbent 9 + bound 9 ⇒ no 8-bus cover in this pool.</a:t>
            </a:r>
            <a:endParaRPr sz="2000"/>
          </a:p>
          <a:p>
            <a:pPr indent="0" lvl="0" marL="0" rtl="0" algn="l">
              <a:spcBef>
                <a:spcPts val="1200"/>
              </a:spcBef>
              <a:spcAft>
                <a:spcPts val="0"/>
              </a:spcAft>
              <a:buClr>
                <a:schemeClr val="dk1"/>
              </a:buClr>
              <a:buSzPts val="1100"/>
              <a:buFont typeface="Arial"/>
              <a:buNone/>
            </a:pPr>
            <a:r>
              <a:rPr lang="en" sz="2000"/>
              <a:t>Adding eight witness routes: objective 8, bound 8.</a:t>
            </a:r>
            <a:endParaRPr sz="2000"/>
          </a:p>
          <a:p>
            <a:pPr indent="0" lvl="0" marL="0" rtl="0" algn="l">
              <a:spcBef>
                <a:spcPts val="1200"/>
              </a:spcBef>
              <a:spcAft>
                <a:spcPts val="0"/>
              </a:spcAft>
              <a:buClr>
                <a:schemeClr val="dk1"/>
              </a:buClr>
              <a:buSzPts val="1100"/>
              <a:buFont typeface="Arial"/>
              <a:buNone/>
            </a:pPr>
            <a:r>
              <a:rPr lang="en" sz="2000"/>
              <a:t>The later charging-stage gap does not undo this fleet proof.</a:t>
            </a:r>
            <a:endParaRPr sz="2000"/>
          </a:p>
          <a:p>
            <a:pPr indent="0" lvl="0" marL="0" rtl="0" algn="l">
              <a:spcBef>
                <a:spcPts val="1200"/>
              </a:spcBef>
              <a:spcAft>
                <a:spcPts val="1200"/>
              </a:spcAft>
              <a:buNone/>
            </a:pPr>
            <a:r>
              <a:t/>
            </a:r>
            <a:endParaRPr sz="2000"/>
          </a:p>
        </p:txBody>
      </p:sp>
      <p:sp>
        <p:nvSpPr>
          <p:cNvPr id="75" name="Google Shape;75;p16"/>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Why a good LP can give a poor integer pool</a:t>
            </a:r>
            <a:endParaRPr/>
          </a:p>
        </p:txBody>
      </p:sp>
      <p:sp>
        <p:nvSpPr>
          <p:cNvPr id="81" name="Google Shape;81;p1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2000"/>
              <a:t>The LP spreads 8 units of route weight over 80–101 routes.</a:t>
            </a:r>
            <a:endParaRPr sz="2000"/>
          </a:p>
          <a:p>
            <a:pPr indent="0" lvl="0" marL="0" rtl="0" algn="l">
              <a:spcBef>
                <a:spcPts val="1200"/>
              </a:spcBef>
              <a:spcAft>
                <a:spcPts val="0"/>
              </a:spcAft>
              <a:buClr>
                <a:schemeClr val="dk1"/>
              </a:buClr>
              <a:buSzPts val="1100"/>
              <a:buFont typeface="Arial"/>
              <a:buNone/>
            </a:pPr>
            <a:r>
              <a:rPr lang="en" sz="2000"/>
              <a:t>Whole buses need a compatible set of complete routes.</a:t>
            </a:r>
            <a:endParaRPr sz="2000"/>
          </a:p>
          <a:p>
            <a:pPr indent="0" lvl="0" marL="0" rtl="0" algn="l">
              <a:spcBef>
                <a:spcPts val="1200"/>
              </a:spcBef>
              <a:spcAft>
                <a:spcPts val="0"/>
              </a:spcAft>
              <a:buClr>
                <a:schemeClr val="dk1"/>
              </a:buClr>
              <a:buSzPts val="1100"/>
              <a:buFont typeface="Arial"/>
              <a:buNone/>
            </a:pPr>
            <a:r>
              <a:rPr lang="en" sz="2000"/>
              <a:t>LP pricing looks for improvement in the fractional objective.</a:t>
            </a:r>
            <a:endParaRPr sz="2000"/>
          </a:p>
          <a:p>
            <a:pPr indent="0" lvl="0" marL="0" rtl="0" algn="l">
              <a:spcBef>
                <a:spcPts val="1200"/>
              </a:spcBef>
              <a:spcAft>
                <a:spcPts val="0"/>
              </a:spcAft>
              <a:buClr>
                <a:schemeClr val="dk1"/>
              </a:buClr>
              <a:buSzPts val="1100"/>
              <a:buFont typeface="Arial"/>
              <a:buNone/>
            </a:pPr>
            <a:r>
              <a:rPr lang="en" sz="2000"/>
              <a:t>A route can cost slightly more fractionally, yet complete a better integer cover. Its reduced cost can be positive.</a:t>
            </a:r>
            <a:endParaRPr sz="2000"/>
          </a:p>
          <a:p>
            <a:pPr indent="0" lvl="0" marL="0" rtl="0" algn="l">
              <a:spcBef>
                <a:spcPts val="1200"/>
              </a:spcBef>
              <a:spcAft>
                <a:spcPts val="0"/>
              </a:spcAft>
              <a:buClr>
                <a:schemeClr val="dk1"/>
              </a:buClr>
              <a:buSzPts val="1100"/>
              <a:buFont typeface="Arial"/>
              <a:buNone/>
            </a:pPr>
            <a:r>
              <a:rPr lang="en" sz="2000"/>
              <a:t>Sequential runs retain routes from earlier dual prices.</a:t>
            </a:r>
            <a:endParaRPr sz="2000"/>
          </a:p>
          <a:p>
            <a:pPr indent="0" lvl="0" marL="0" rtl="0" algn="l">
              <a:spcBef>
                <a:spcPts val="1200"/>
              </a:spcBef>
              <a:spcAft>
                <a:spcPts val="0"/>
              </a:spcAft>
              <a:buClr>
                <a:schemeClr val="dk1"/>
              </a:buClr>
              <a:buSzPts val="1100"/>
              <a:buFont typeface="Arial"/>
              <a:buNone/>
            </a:pPr>
            <a:r>
              <a:rPr lang="en" sz="2000"/>
              <a:t>Diving changes the dual prices by fixing part of a cover.</a:t>
            </a:r>
            <a:endParaRPr sz="2000"/>
          </a:p>
          <a:p>
            <a:pPr indent="0" lvl="0" marL="0" rtl="0" algn="l">
              <a:spcBef>
                <a:spcPts val="1200"/>
              </a:spcBef>
              <a:spcAft>
                <a:spcPts val="1200"/>
              </a:spcAft>
              <a:buNone/>
            </a:pPr>
            <a:r>
              <a:t/>
            </a:r>
            <a:endParaRPr sz="2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 small example: fractional value versus compatibility</a:t>
            </a:r>
            <a:endParaRPr/>
          </a:p>
        </p:txBody>
      </p:sp>
      <p:sp>
        <p:nvSpPr>
          <p:cNvPr id="87" name="Google Shape;87;p1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sz="2200"/>
              <a:t>Six trips: A, B, C and D, E, F. Each route below costs 100.</a:t>
            </a:r>
            <a:endParaRPr sz="2200"/>
          </a:p>
          <a:p>
            <a:pPr indent="0" lvl="0" marL="0" rtl="0" algn="l">
              <a:lnSpc>
                <a:spcPct val="100000"/>
              </a:lnSpc>
              <a:spcBef>
                <a:spcPts val="0"/>
              </a:spcBef>
              <a:spcAft>
                <a:spcPts val="0"/>
              </a:spcAft>
              <a:buClr>
                <a:schemeClr val="dk1"/>
              </a:buClr>
              <a:buSzPts val="1100"/>
              <a:buFont typeface="Arial"/>
              <a:buNone/>
            </a:pPr>
            <a:r>
              <a:rPr lang="en" sz="2200"/>
              <a:t>Pool: AB, AC, BC, DE, DF, EF.</a:t>
            </a:r>
            <a:endParaRPr sz="2200"/>
          </a:p>
          <a:p>
            <a:pPr indent="0" lvl="0" marL="0" rtl="0" algn="l">
              <a:lnSpc>
                <a:spcPct val="100000"/>
              </a:lnSpc>
              <a:spcBef>
                <a:spcPts val="0"/>
              </a:spcBef>
              <a:spcAft>
                <a:spcPts val="0"/>
              </a:spcAft>
              <a:buClr>
                <a:schemeClr val="dk1"/>
              </a:buClr>
              <a:buSzPts val="1100"/>
              <a:buFont typeface="Arial"/>
              <a:buNone/>
            </a:pPr>
            <a:r>
              <a:t/>
            </a:r>
            <a:endParaRPr sz="2200"/>
          </a:p>
          <a:p>
            <a:pPr indent="0" lvl="0" marL="0" rtl="0" algn="l">
              <a:lnSpc>
                <a:spcPct val="100000"/>
              </a:lnSpc>
              <a:spcBef>
                <a:spcPts val="0"/>
              </a:spcBef>
              <a:spcAft>
                <a:spcPts val="0"/>
              </a:spcAft>
              <a:buClr>
                <a:schemeClr val="dk1"/>
              </a:buClr>
              <a:buSzPts val="1100"/>
              <a:buFont typeface="Arial"/>
              <a:buNone/>
            </a:pPr>
            <a:r>
              <a:rPr lang="en" sz="2200"/>
              <a:t>LP: take half of every route → 3 route units, cost 300.</a:t>
            </a:r>
            <a:endParaRPr sz="2200"/>
          </a:p>
          <a:p>
            <a:pPr indent="0" lvl="0" marL="0" rtl="0" algn="l">
              <a:lnSpc>
                <a:spcPct val="100000"/>
              </a:lnSpc>
              <a:spcBef>
                <a:spcPts val="0"/>
              </a:spcBef>
              <a:spcAft>
                <a:spcPts val="0"/>
              </a:spcAft>
              <a:buClr>
                <a:schemeClr val="dk1"/>
              </a:buClr>
              <a:buSzPts val="1100"/>
              <a:buFont typeface="Arial"/>
              <a:buNone/>
            </a:pPr>
            <a:r>
              <a:rPr lang="en" sz="2200"/>
              <a:t>Integer pool: two routes per triangle → 4 buses, cost 400.</a:t>
            </a:r>
            <a:endParaRPr sz="2200"/>
          </a:p>
          <a:p>
            <a:pPr indent="0" lvl="0" marL="0" rtl="0" algn="l">
              <a:lnSpc>
                <a:spcPct val="100000"/>
              </a:lnSpc>
              <a:spcBef>
                <a:spcPts val="0"/>
              </a:spcBef>
              <a:spcAft>
                <a:spcPts val="0"/>
              </a:spcAft>
              <a:buClr>
                <a:schemeClr val="dk1"/>
              </a:buClr>
              <a:buSzPts val="1100"/>
              <a:buFont typeface="Arial"/>
              <a:buNone/>
            </a:pPr>
            <a:r>
              <a:t/>
            </a:r>
            <a:endParaRPr sz="2200"/>
          </a:p>
          <a:p>
            <a:pPr indent="0" lvl="0" marL="0" rtl="0" algn="l">
              <a:lnSpc>
                <a:spcPct val="100000"/>
              </a:lnSpc>
              <a:spcBef>
                <a:spcPts val="0"/>
              </a:spcBef>
              <a:spcAft>
                <a:spcPts val="0"/>
              </a:spcAft>
              <a:buClr>
                <a:schemeClr val="dk1"/>
              </a:buClr>
              <a:buSzPts val="1100"/>
              <a:buFont typeface="Arial"/>
              <a:buNone/>
            </a:pPr>
            <a:r>
              <a:rPr lang="en" sz="2200"/>
              <a:t>Add AD at cost 101. Reduced cost = 101 − 50 − 50 = +1.</a:t>
            </a:r>
            <a:endParaRPr sz="2200"/>
          </a:p>
          <a:p>
            <a:pPr indent="0" lvl="0" marL="0" rtl="0" algn="l">
              <a:lnSpc>
                <a:spcPct val="100000"/>
              </a:lnSpc>
              <a:spcBef>
                <a:spcPts val="0"/>
              </a:spcBef>
              <a:spcAft>
                <a:spcPts val="0"/>
              </a:spcAft>
              <a:buClr>
                <a:schemeClr val="dk1"/>
              </a:buClr>
              <a:buSzPts val="1100"/>
              <a:buFont typeface="Arial"/>
              <a:buNone/>
            </a:pPr>
            <a:r>
              <a:rPr lang="en" sz="2200"/>
              <a:t>Now AD + BC + EF covers all trips with 3 buses, cost 301.</a:t>
            </a:r>
            <a:endParaRPr sz="2200"/>
          </a:p>
          <a:p>
            <a:pPr indent="0" lvl="0" marL="0" rtl="0" algn="l">
              <a:lnSpc>
                <a:spcPct val="100000"/>
              </a:lnSpc>
              <a:spcBef>
                <a:spcPts val="0"/>
              </a:spcBef>
              <a:spcAft>
                <a:spcPts val="0"/>
              </a:spcAft>
              <a:buClr>
                <a:schemeClr val="dk1"/>
              </a:buClr>
              <a:buSzPts val="1100"/>
              <a:buFont typeface="Arial"/>
              <a:buNone/>
            </a:pPr>
            <a:r>
              <a:rPr lang="en" sz="2200"/>
              <a:t>The better integer cover need not improve the LP.</a:t>
            </a:r>
            <a:endParaRPr sz="2200"/>
          </a:p>
          <a:p>
            <a:pPr indent="0" lvl="0" marL="0" rtl="0" algn="l">
              <a:lnSpc>
                <a:spcPct val="100000"/>
              </a:lnSpc>
              <a:spcBef>
                <a:spcPts val="0"/>
              </a:spcBef>
              <a:spcAft>
                <a:spcPts val="0"/>
              </a:spcAft>
              <a:buNone/>
            </a:pPr>
            <a:r>
              <a:t/>
            </a:r>
            <a:endParaRPr sz="22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Can new pricing recover eight buses?</a:t>
            </a:r>
            <a:endParaRPr/>
          </a:p>
        </p:txBody>
      </p:sp>
      <p:graphicFrame>
        <p:nvGraphicFramePr>
          <p:cNvPr id="93" name="Google Shape;93;p19"/>
          <p:cNvGraphicFramePr/>
          <p:nvPr/>
        </p:nvGraphicFramePr>
        <p:xfrm>
          <a:off x="952500" y="1619250"/>
          <a:ext cx="3000000" cy="3000000"/>
        </p:xfrm>
        <a:graphic>
          <a:graphicData uri="http://schemas.openxmlformats.org/drawingml/2006/table">
            <a:tbl>
              <a:tblPr>
                <a:noFill/>
                <a:tableStyleId>{1F74DFAD-7EDC-4E98-B434-54EEA7EA7E2C}</a:tableStyleId>
              </a:tblPr>
              <a:tblGrid>
                <a:gridCol w="1809750"/>
                <a:gridCol w="1809750"/>
                <a:gridCol w="1809750"/>
                <a:gridCol w="1809750"/>
              </a:tblGrid>
              <a:tr h="381000">
                <a:tc>
                  <a:txBody>
                    <a:bodyPr/>
                    <a:lstStyle/>
                    <a:p>
                      <a:pPr indent="0" lvl="0" marL="0" rtl="0" algn="l">
                        <a:spcBef>
                          <a:spcPts val="0"/>
                        </a:spcBef>
                        <a:spcAft>
                          <a:spcPts val="0"/>
                        </a:spcAft>
                        <a:buNone/>
                      </a:pPr>
                      <a:r>
                        <a:rPr lang="en" sz="2000"/>
                        <a:t>Chain</a:t>
                      </a:r>
                      <a:endParaRPr sz="2000"/>
                    </a:p>
                  </a:txBody>
                  <a:tcPr marT="91425" marB="91425" marR="91425" marL="91425"/>
                </a:tc>
                <a:tc>
                  <a:txBody>
                    <a:bodyPr/>
                    <a:lstStyle/>
                    <a:p>
                      <a:pPr indent="0" lvl="0" marL="0" rtl="0" algn="l">
                        <a:spcBef>
                          <a:spcPts val="0"/>
                        </a:spcBef>
                        <a:spcAft>
                          <a:spcPts val="0"/>
                        </a:spcAft>
                        <a:buNone/>
                      </a:pPr>
                      <a:r>
                        <a:rPr lang="en" sz="2000"/>
                        <a:t>Controls</a:t>
                      </a:r>
                      <a:endParaRPr sz="2000"/>
                    </a:p>
                  </a:txBody>
                  <a:tcPr marT="91425" marB="91425" marR="91425" marL="91425"/>
                </a:tc>
                <a:tc>
                  <a:txBody>
                    <a:bodyPr/>
                    <a:lstStyle/>
                    <a:p>
                      <a:pPr indent="0" lvl="0" marL="0" rtl="0" algn="l">
                        <a:spcBef>
                          <a:spcPts val="0"/>
                        </a:spcBef>
                        <a:spcAft>
                          <a:spcPts val="0"/>
                        </a:spcAft>
                        <a:buNone/>
                      </a:pPr>
                      <a:r>
                        <a:rPr lang="en" sz="2000"/>
                        <a:t>Dive + MIP</a:t>
                      </a:r>
                      <a:endParaRPr sz="2000"/>
                    </a:p>
                  </a:txBody>
                  <a:tcPr marT="91425" marB="91425" marR="91425" marL="91425"/>
                </a:tc>
                <a:tc>
                  <a:txBody>
                    <a:bodyPr/>
                    <a:lstStyle/>
                    <a:p>
                      <a:pPr indent="0" lvl="0" marL="0" rtl="0" algn="l">
                        <a:spcBef>
                          <a:spcPts val="0"/>
                        </a:spcBef>
                        <a:spcAft>
                          <a:spcPts val="0"/>
                        </a:spcAft>
                        <a:buNone/>
                      </a:pPr>
                      <a:r>
                        <a:rPr lang="en" sz="2000"/>
                        <a:t>Follow-up</a:t>
                      </a:r>
                      <a:endParaRPr sz="2000"/>
                    </a:p>
                  </a:txBody>
                  <a:tcPr marT="91425" marB="91425" marR="91425" marL="91425"/>
                </a:tc>
              </a:tr>
              <a:tr h="381000">
                <a:tc>
                  <a:txBody>
                    <a:bodyPr/>
                    <a:lstStyle/>
                    <a:p>
                      <a:pPr indent="0" lvl="0" marL="0" rtl="0" algn="l">
                        <a:spcBef>
                          <a:spcPts val="0"/>
                        </a:spcBef>
                        <a:spcAft>
                          <a:spcPts val="0"/>
                        </a:spcAft>
                        <a:buNone/>
                      </a:pPr>
                      <a:r>
                        <a:rPr lang="en" sz="2000"/>
                        <a:t>C1</a:t>
                      </a:r>
                      <a:endParaRPr sz="2000"/>
                    </a:p>
                  </a:txBody>
                  <a:tcPr marT="91425" marB="91425" marR="91425" marL="91425"/>
                </a:tc>
                <a:tc>
                  <a:txBody>
                    <a:bodyPr/>
                    <a:lstStyle/>
                    <a:p>
                      <a:pPr indent="0" lvl="0" marL="0" rtl="0" algn="l">
                        <a:spcBef>
                          <a:spcPts val="0"/>
                        </a:spcBef>
                        <a:spcAft>
                          <a:spcPts val="0"/>
                        </a:spcAft>
                        <a:buNone/>
                      </a:pPr>
                      <a:r>
                        <a:rPr lang="en" sz="2000"/>
                        <a:t>9</a:t>
                      </a:r>
                      <a:endParaRPr sz="2000"/>
                    </a:p>
                  </a:txBody>
                  <a:tcPr marT="91425" marB="91425" marR="91425" marL="91425"/>
                </a:tc>
                <a:tc>
                  <a:txBody>
                    <a:bodyPr/>
                    <a:lstStyle/>
                    <a:p>
                      <a:pPr indent="0" lvl="0" marL="0" rtl="0" algn="l">
                        <a:spcBef>
                          <a:spcPts val="0"/>
                        </a:spcBef>
                        <a:spcAft>
                          <a:spcPts val="0"/>
                        </a:spcAft>
                        <a:buNone/>
                      </a:pPr>
                      <a:r>
                        <a:rPr lang="en" sz="2000"/>
                        <a:t>9</a:t>
                      </a:r>
                      <a:endParaRPr sz="2000"/>
                    </a:p>
                  </a:txBody>
                  <a:tcPr marT="91425" marB="91425" marR="91425" marL="91425"/>
                </a:tc>
                <a:tc>
                  <a:txBody>
                    <a:bodyPr/>
                    <a:lstStyle/>
                    <a:p>
                      <a:pPr indent="0" lvl="0" marL="0" rtl="0" algn="l">
                        <a:spcBef>
                          <a:spcPts val="0"/>
                        </a:spcBef>
                        <a:spcAft>
                          <a:spcPts val="0"/>
                        </a:spcAft>
                        <a:buNone/>
                      </a:pPr>
                      <a:r>
                        <a:rPr lang="en" sz="2000"/>
                        <a:t>8</a:t>
                      </a:r>
                      <a:endParaRPr sz="2000"/>
                    </a:p>
                  </a:txBody>
                  <a:tcPr marT="91425" marB="91425" marR="91425" marL="91425"/>
                </a:tc>
              </a:tr>
              <a:tr h="381000">
                <a:tc>
                  <a:txBody>
                    <a:bodyPr/>
                    <a:lstStyle/>
                    <a:p>
                      <a:pPr indent="0" lvl="0" marL="0" rtl="0" algn="l">
                        <a:spcBef>
                          <a:spcPts val="0"/>
                        </a:spcBef>
                        <a:spcAft>
                          <a:spcPts val="0"/>
                        </a:spcAft>
                        <a:buNone/>
                      </a:pPr>
                      <a:r>
                        <a:rPr lang="en" sz="2000"/>
                        <a:t>C3</a:t>
                      </a:r>
                      <a:endParaRPr sz="2000"/>
                    </a:p>
                  </a:txBody>
                  <a:tcPr marT="91425" marB="91425" marR="91425" marL="91425"/>
                </a:tc>
                <a:tc>
                  <a:txBody>
                    <a:bodyPr/>
                    <a:lstStyle/>
                    <a:p>
                      <a:pPr indent="0" lvl="0" marL="0" rtl="0" algn="l">
                        <a:spcBef>
                          <a:spcPts val="0"/>
                        </a:spcBef>
                        <a:spcAft>
                          <a:spcPts val="0"/>
                        </a:spcAft>
                        <a:buNone/>
                      </a:pPr>
                      <a:r>
                        <a:rPr lang="en" sz="2000"/>
                        <a:t>9</a:t>
                      </a:r>
                      <a:endParaRPr sz="2000"/>
                    </a:p>
                  </a:txBody>
                  <a:tcPr marT="91425" marB="91425" marR="91425" marL="91425"/>
                </a:tc>
                <a:tc>
                  <a:txBody>
                    <a:bodyPr/>
                    <a:lstStyle/>
                    <a:p>
                      <a:pPr indent="0" lvl="0" marL="0" rtl="0" algn="l">
                        <a:spcBef>
                          <a:spcPts val="0"/>
                        </a:spcBef>
                        <a:spcAft>
                          <a:spcPts val="0"/>
                        </a:spcAft>
                        <a:buNone/>
                      </a:pPr>
                      <a:r>
                        <a:rPr lang="en" sz="2000"/>
                        <a:t>8</a:t>
                      </a:r>
                      <a:endParaRPr sz="2000"/>
                    </a:p>
                  </a:txBody>
                  <a:tcPr marT="91425" marB="91425" marR="91425" marL="91425"/>
                </a:tc>
                <a:tc>
                  <a:txBody>
                    <a:bodyPr/>
                    <a:lstStyle/>
                    <a:p>
                      <a:pPr indent="0" lvl="0" marL="0" rtl="0" algn="l">
                        <a:spcBef>
                          <a:spcPts val="0"/>
                        </a:spcBef>
                        <a:spcAft>
                          <a:spcPts val="0"/>
                        </a:spcAft>
                        <a:buNone/>
                      </a:pPr>
                      <a:r>
                        <a:rPr lang="en" sz="2000"/>
                        <a:t>—</a:t>
                      </a:r>
                      <a:endParaRPr sz="2000"/>
                    </a:p>
                  </a:txBody>
                  <a:tcPr marT="91425" marB="91425" marR="91425" marL="91425"/>
                </a:tc>
              </a:tr>
              <a:tr h="381000">
                <a:tc>
                  <a:txBody>
                    <a:bodyPr/>
                    <a:lstStyle/>
                    <a:p>
                      <a:pPr indent="0" lvl="0" marL="0" rtl="0" algn="l">
                        <a:spcBef>
                          <a:spcPts val="0"/>
                        </a:spcBef>
                        <a:spcAft>
                          <a:spcPts val="0"/>
                        </a:spcAft>
                        <a:buNone/>
                      </a:pPr>
                      <a:r>
                        <a:rPr lang="en" sz="2000"/>
                        <a:t>C4</a:t>
                      </a:r>
                      <a:endParaRPr sz="2000"/>
                    </a:p>
                  </a:txBody>
                  <a:tcPr marT="91425" marB="91425" marR="91425" marL="91425"/>
                </a:tc>
                <a:tc>
                  <a:txBody>
                    <a:bodyPr/>
                    <a:lstStyle/>
                    <a:p>
                      <a:pPr indent="0" lvl="0" marL="0" rtl="0" algn="l">
                        <a:spcBef>
                          <a:spcPts val="0"/>
                        </a:spcBef>
                        <a:spcAft>
                          <a:spcPts val="0"/>
                        </a:spcAft>
                        <a:buNone/>
                      </a:pPr>
                      <a:r>
                        <a:rPr lang="en" sz="2000"/>
                        <a:t>9</a:t>
                      </a:r>
                      <a:endParaRPr sz="2000"/>
                    </a:p>
                  </a:txBody>
                  <a:tcPr marT="91425" marB="91425" marR="91425" marL="91425"/>
                </a:tc>
                <a:tc>
                  <a:txBody>
                    <a:bodyPr/>
                    <a:lstStyle/>
                    <a:p>
                      <a:pPr indent="0" lvl="0" marL="0" rtl="0" algn="l">
                        <a:spcBef>
                          <a:spcPts val="0"/>
                        </a:spcBef>
                        <a:spcAft>
                          <a:spcPts val="0"/>
                        </a:spcAft>
                        <a:buNone/>
                      </a:pPr>
                      <a:r>
                        <a:rPr lang="en" sz="2000"/>
                        <a:t>8</a:t>
                      </a:r>
                      <a:endParaRPr sz="2000"/>
                    </a:p>
                  </a:txBody>
                  <a:tcPr marT="91425" marB="91425" marR="91425" marL="91425"/>
                </a:tc>
                <a:tc>
                  <a:txBody>
                    <a:bodyPr/>
                    <a:lstStyle/>
                    <a:p>
                      <a:pPr indent="0" lvl="0" marL="0" rtl="0" algn="l">
                        <a:spcBef>
                          <a:spcPts val="0"/>
                        </a:spcBef>
                        <a:spcAft>
                          <a:spcPts val="0"/>
                        </a:spcAft>
                        <a:buNone/>
                      </a:pPr>
                      <a:r>
                        <a:rPr lang="en" sz="2000"/>
                        <a:t>—</a:t>
                      </a:r>
                      <a:endParaRPr sz="2000"/>
                    </a:p>
                  </a:txBody>
                  <a:tcPr marT="91425" marB="91425" marR="91425" marL="91425"/>
                </a:tc>
              </a:tr>
              <a:tr h="381000">
                <a:tc>
                  <a:txBody>
                    <a:bodyPr/>
                    <a:lstStyle/>
                    <a:p>
                      <a:pPr indent="0" lvl="0" marL="0" rtl="0" algn="l">
                        <a:spcBef>
                          <a:spcPts val="0"/>
                        </a:spcBef>
                        <a:spcAft>
                          <a:spcPts val="0"/>
                        </a:spcAft>
                        <a:buNone/>
                      </a:pPr>
                      <a:r>
                        <a:rPr lang="en" sz="2000"/>
                        <a:t>C5</a:t>
                      </a:r>
                      <a:endParaRPr sz="2000"/>
                    </a:p>
                  </a:txBody>
                  <a:tcPr marT="91425" marB="91425" marR="91425" marL="91425"/>
                </a:tc>
                <a:tc>
                  <a:txBody>
                    <a:bodyPr/>
                    <a:lstStyle/>
                    <a:p>
                      <a:pPr indent="0" lvl="0" marL="0" rtl="0" algn="l">
                        <a:spcBef>
                          <a:spcPts val="0"/>
                        </a:spcBef>
                        <a:spcAft>
                          <a:spcPts val="0"/>
                        </a:spcAft>
                        <a:buNone/>
                      </a:pPr>
                      <a:r>
                        <a:rPr lang="en" sz="2000"/>
                        <a:t>9</a:t>
                      </a:r>
                      <a:endParaRPr sz="2000"/>
                    </a:p>
                  </a:txBody>
                  <a:tcPr marT="91425" marB="91425" marR="91425" marL="91425"/>
                </a:tc>
                <a:tc>
                  <a:txBody>
                    <a:bodyPr/>
                    <a:lstStyle/>
                    <a:p>
                      <a:pPr indent="0" lvl="0" marL="0" rtl="0" algn="l">
                        <a:spcBef>
                          <a:spcPts val="0"/>
                        </a:spcBef>
                        <a:spcAft>
                          <a:spcPts val="0"/>
                        </a:spcAft>
                        <a:buNone/>
                      </a:pPr>
                      <a:r>
                        <a:rPr lang="en" sz="2000"/>
                        <a:t>8</a:t>
                      </a:r>
                      <a:endParaRPr sz="2000"/>
                    </a:p>
                  </a:txBody>
                  <a:tcPr marT="91425" marB="91425" marR="91425" marL="91425"/>
                </a:tc>
                <a:tc>
                  <a:txBody>
                    <a:bodyPr/>
                    <a:lstStyle/>
                    <a:p>
                      <a:pPr indent="0" lvl="0" marL="0" rtl="0" algn="l">
                        <a:spcBef>
                          <a:spcPts val="0"/>
                        </a:spcBef>
                        <a:spcAft>
                          <a:spcPts val="0"/>
                        </a:spcAft>
                        <a:buNone/>
                      </a:pPr>
                      <a:r>
                        <a:rPr lang="en" sz="2000"/>
                        <a:t>—</a:t>
                      </a:r>
                      <a:endParaRPr sz="2000"/>
                    </a:p>
                  </a:txBody>
                  <a:tcPr marT="91425" marB="91425" marR="91425" marL="91425"/>
                </a:tc>
              </a:tr>
            </a:tbl>
          </a:graphicData>
        </a:graphic>
      </p:graphicFrame>
      <p:sp>
        <p:nvSpPr>
          <p:cNvPr id="94" name="Google Shape;94;p19"/>
          <p:cNvSpPr txBox="1"/>
          <p:nvPr/>
        </p:nvSpPr>
        <p:spPr>
          <a:xfrm>
            <a:off x="411025" y="4354750"/>
            <a:ext cx="8354100" cy="67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700">
                <a:solidFill>
                  <a:schemeClr val="dk2"/>
                </a:solidFill>
              </a:rPr>
              <a:t>Original pilot: 3/4 successes. C1 follow-up: +29.6 minutes.</a:t>
            </a:r>
            <a:endParaRPr sz="1700">
              <a:solidFill>
                <a:schemeClr val="dk2"/>
              </a:solidFill>
            </a:endParaRPr>
          </a:p>
          <a:p>
            <a:pPr indent="0" lvl="0" marL="0" rtl="0" algn="l">
              <a:spcBef>
                <a:spcPts val="0"/>
              </a:spcBef>
              <a:spcAft>
                <a:spcPts val="0"/>
              </a:spcAft>
              <a:buClr>
                <a:schemeClr val="dk1"/>
              </a:buClr>
              <a:buSzPts val="1100"/>
              <a:buFont typeface="Arial"/>
              <a:buNone/>
            </a:pPr>
            <a:r>
              <a:rPr lang="en" sz="1700">
                <a:solidFill>
                  <a:schemeClr val="dk2"/>
                </a:solidFill>
              </a:rPr>
              <a:t>Same distinct routes; passing the dive incumbent recovered eight.</a:t>
            </a:r>
            <a:endParaRPr sz="1700">
              <a:solidFill>
                <a:schemeClr val="dk2"/>
              </a:solidFill>
            </a:endParaRPr>
          </a:p>
          <a:p>
            <a:pPr indent="0" lvl="0" marL="0" rtl="0" algn="l">
              <a:spcBef>
                <a:spcPts val="0"/>
              </a:spcBef>
              <a:spcAft>
                <a:spcPts val="0"/>
              </a:spcAft>
              <a:buNone/>
            </a:pPr>
            <a:r>
              <a:t/>
            </a:r>
            <a:endParaRPr sz="1700">
              <a:solidFill>
                <a:schemeClr val="dk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Twelve 12-hour searches still miss 15</a:t>
            </a:r>
            <a:endParaRPr/>
          </a:p>
        </p:txBody>
      </p:sp>
      <p:graphicFrame>
        <p:nvGraphicFramePr>
          <p:cNvPr id="100" name="Google Shape;100;p20"/>
          <p:cNvGraphicFramePr/>
          <p:nvPr/>
        </p:nvGraphicFramePr>
        <p:xfrm>
          <a:off x="952500" y="1263825"/>
          <a:ext cx="3000000" cy="3000000"/>
        </p:xfrm>
        <a:graphic>
          <a:graphicData uri="http://schemas.openxmlformats.org/drawingml/2006/table">
            <a:tbl>
              <a:tblPr>
                <a:noFill/>
                <a:tableStyleId>{1F74DFAD-7EDC-4E98-B434-54EEA7EA7E2C}</a:tableStyleId>
              </a:tblPr>
              <a:tblGrid>
                <a:gridCol w="1809750"/>
                <a:gridCol w="1809750"/>
                <a:gridCol w="1809750"/>
                <a:gridCol w="1809750"/>
              </a:tblGrid>
              <a:tr h="438925">
                <a:tc>
                  <a:txBody>
                    <a:bodyPr/>
                    <a:lstStyle/>
                    <a:p>
                      <a:pPr indent="0" lvl="0" marL="0" rtl="0" algn="l">
                        <a:spcBef>
                          <a:spcPts val="0"/>
                        </a:spcBef>
                        <a:spcAft>
                          <a:spcPts val="0"/>
                        </a:spcAft>
                        <a:buNone/>
                      </a:pPr>
                      <a:r>
                        <a:rPr lang="en" sz="1800"/>
                        <a:t>Chain</a:t>
                      </a:r>
                      <a:endParaRPr sz="1800"/>
                    </a:p>
                  </a:txBody>
                  <a:tcPr marT="91425" marB="91425" marR="91425" marL="91425"/>
                </a:tc>
                <a:tc>
                  <a:txBody>
                    <a:bodyPr/>
                    <a:lstStyle/>
                    <a:p>
                      <a:pPr indent="0" lvl="0" marL="0" rtl="0" algn="l">
                        <a:spcBef>
                          <a:spcPts val="0"/>
                        </a:spcBef>
                        <a:spcAft>
                          <a:spcPts val="0"/>
                        </a:spcAft>
                        <a:buNone/>
                      </a:pPr>
                      <a:r>
                        <a:rPr lang="en" sz="1800"/>
                        <a:t>Plain MIP</a:t>
                      </a:r>
                      <a:endParaRPr sz="1800"/>
                    </a:p>
                  </a:txBody>
                  <a:tcPr marT="91425" marB="91425" marR="91425" marL="91425"/>
                </a:tc>
                <a:tc>
                  <a:txBody>
                    <a:bodyPr/>
                    <a:lstStyle/>
                    <a:p>
                      <a:pPr indent="0" lvl="0" marL="0" rtl="0" algn="l">
                        <a:spcBef>
                          <a:spcPts val="0"/>
                        </a:spcBef>
                        <a:spcAft>
                          <a:spcPts val="0"/>
                        </a:spcAft>
                        <a:buNone/>
                      </a:pPr>
                      <a:r>
                        <a:rPr lang="en" sz="1800"/>
                        <a:t>Heuristics</a:t>
                      </a:r>
                      <a:endParaRPr sz="1800"/>
                    </a:p>
                  </a:txBody>
                  <a:tcPr marT="91425" marB="91425" marR="91425" marL="91425"/>
                </a:tc>
                <a:tc>
                  <a:txBody>
                    <a:bodyPr/>
                    <a:lstStyle/>
                    <a:p>
                      <a:pPr indent="0" lvl="0" marL="0" rtl="0" algn="l">
                        <a:spcBef>
                          <a:spcPts val="0"/>
                        </a:spcBef>
                        <a:spcAft>
                          <a:spcPts val="0"/>
                        </a:spcAft>
                        <a:buNone/>
                      </a:pPr>
                      <a:r>
                        <a:rPr lang="en" sz="1800"/>
                        <a:t>Fleet bound</a:t>
                      </a:r>
                      <a:endParaRPr sz="1800"/>
                    </a:p>
                  </a:txBody>
                  <a:tcPr marT="91425" marB="91425" marR="91425" marL="91425"/>
                </a:tc>
              </a:tr>
              <a:tr h="438925">
                <a:tc>
                  <a:txBody>
                    <a:bodyPr/>
                    <a:lstStyle/>
                    <a:p>
                      <a:pPr indent="0" lvl="0" marL="0" rtl="0" algn="l">
                        <a:spcBef>
                          <a:spcPts val="0"/>
                        </a:spcBef>
                        <a:spcAft>
                          <a:spcPts val="0"/>
                        </a:spcAft>
                        <a:buNone/>
                      </a:pPr>
                      <a:r>
                        <a:rPr lang="en" sz="1800"/>
                        <a:t>C1</a:t>
                      </a:r>
                      <a:endParaRPr sz="1800"/>
                    </a:p>
                  </a:txBody>
                  <a:tcPr marT="91425" marB="91425" marR="91425" marL="91425"/>
                </a:tc>
                <a:tc>
                  <a:txBody>
                    <a:bodyPr/>
                    <a:lstStyle/>
                    <a:p>
                      <a:pPr indent="0" lvl="0" marL="0" rtl="0" algn="l">
                        <a:spcBef>
                          <a:spcPts val="0"/>
                        </a:spcBef>
                        <a:spcAft>
                          <a:spcPts val="0"/>
                        </a:spcAft>
                        <a:buNone/>
                      </a:pPr>
                      <a:r>
                        <a:rPr lang="en" sz="1800"/>
                        <a:t>18</a:t>
                      </a:r>
                      <a:endParaRPr sz="1800"/>
                    </a:p>
                  </a:txBody>
                  <a:tcPr marT="91425" marB="91425" marR="91425" marL="91425"/>
                </a:tc>
                <a:tc>
                  <a:txBody>
                    <a:bodyPr/>
                    <a:lstStyle/>
                    <a:p>
                      <a:pPr indent="0" lvl="0" marL="0" rtl="0" algn="l">
                        <a:spcBef>
                          <a:spcPts val="0"/>
                        </a:spcBef>
                        <a:spcAft>
                          <a:spcPts val="0"/>
                        </a:spcAft>
                        <a:buNone/>
                      </a:pPr>
                      <a:r>
                        <a:rPr lang="en" sz="1800"/>
                        <a:t>18</a:t>
                      </a:r>
                      <a:endParaRPr sz="1800"/>
                    </a:p>
                  </a:txBody>
                  <a:tcPr marT="91425" marB="91425" marR="91425" marL="91425"/>
                </a:tc>
                <a:tc>
                  <a:txBody>
                    <a:bodyPr/>
                    <a:lstStyle/>
                    <a:p>
                      <a:pPr indent="0" lvl="0" marL="0" rtl="0" algn="l">
                        <a:spcBef>
                          <a:spcPts val="0"/>
                        </a:spcBef>
                        <a:spcAft>
                          <a:spcPts val="0"/>
                        </a:spcAft>
                        <a:buNone/>
                      </a:pPr>
                      <a:r>
                        <a:rPr lang="en" sz="1800"/>
                        <a:t>15</a:t>
                      </a:r>
                      <a:endParaRPr sz="1800"/>
                    </a:p>
                  </a:txBody>
                  <a:tcPr marT="91425" marB="91425" marR="91425" marL="91425"/>
                </a:tc>
              </a:tr>
              <a:tr h="438925">
                <a:tc>
                  <a:txBody>
                    <a:bodyPr/>
                    <a:lstStyle/>
                    <a:p>
                      <a:pPr indent="0" lvl="0" marL="0" rtl="0" algn="l">
                        <a:spcBef>
                          <a:spcPts val="0"/>
                        </a:spcBef>
                        <a:spcAft>
                          <a:spcPts val="0"/>
                        </a:spcAft>
                        <a:buNone/>
                      </a:pPr>
                      <a:r>
                        <a:rPr lang="en" sz="1800"/>
                        <a:t>C2</a:t>
                      </a:r>
                      <a:endParaRPr sz="1800"/>
                    </a:p>
                  </a:txBody>
                  <a:tcPr marT="91425" marB="91425" marR="91425" marL="91425"/>
                </a:tc>
                <a:tc>
                  <a:txBody>
                    <a:bodyPr/>
                    <a:lstStyle/>
                    <a:p>
                      <a:pPr indent="0" lvl="0" marL="0" rtl="0" algn="l">
                        <a:spcBef>
                          <a:spcPts val="0"/>
                        </a:spcBef>
                        <a:spcAft>
                          <a:spcPts val="0"/>
                        </a:spcAft>
                        <a:buNone/>
                      </a:pPr>
                      <a:r>
                        <a:rPr lang="en" sz="1800"/>
                        <a:t>17</a:t>
                      </a:r>
                      <a:endParaRPr sz="1800"/>
                    </a:p>
                  </a:txBody>
                  <a:tcPr marT="91425" marB="91425" marR="91425" marL="91425"/>
                </a:tc>
                <a:tc>
                  <a:txBody>
                    <a:bodyPr/>
                    <a:lstStyle/>
                    <a:p>
                      <a:pPr indent="0" lvl="0" marL="0" rtl="0" algn="l">
                        <a:spcBef>
                          <a:spcPts val="0"/>
                        </a:spcBef>
                        <a:spcAft>
                          <a:spcPts val="0"/>
                        </a:spcAft>
                        <a:buNone/>
                      </a:pPr>
                      <a:r>
                        <a:rPr lang="en" sz="1800"/>
                        <a:t>17</a:t>
                      </a:r>
                      <a:endParaRPr sz="1800"/>
                    </a:p>
                  </a:txBody>
                  <a:tcPr marT="91425" marB="91425" marR="91425" marL="91425"/>
                </a:tc>
                <a:tc>
                  <a:txBody>
                    <a:bodyPr/>
                    <a:lstStyle/>
                    <a:p>
                      <a:pPr indent="0" lvl="0" marL="0" rtl="0" algn="l">
                        <a:spcBef>
                          <a:spcPts val="0"/>
                        </a:spcBef>
                        <a:spcAft>
                          <a:spcPts val="0"/>
                        </a:spcAft>
                        <a:buNone/>
                      </a:pPr>
                      <a:r>
                        <a:rPr lang="en" sz="1800"/>
                        <a:t>15</a:t>
                      </a:r>
                      <a:endParaRPr sz="1800"/>
                    </a:p>
                  </a:txBody>
                  <a:tcPr marT="91425" marB="91425" marR="91425" marL="91425"/>
                </a:tc>
              </a:tr>
              <a:tr h="438925">
                <a:tc>
                  <a:txBody>
                    <a:bodyPr/>
                    <a:lstStyle/>
                    <a:p>
                      <a:pPr indent="0" lvl="0" marL="0" rtl="0" algn="l">
                        <a:spcBef>
                          <a:spcPts val="0"/>
                        </a:spcBef>
                        <a:spcAft>
                          <a:spcPts val="0"/>
                        </a:spcAft>
                        <a:buNone/>
                      </a:pPr>
                      <a:r>
                        <a:rPr lang="en" sz="1800"/>
                        <a:t>C3</a:t>
                      </a:r>
                      <a:endParaRPr sz="1800"/>
                    </a:p>
                  </a:txBody>
                  <a:tcPr marT="91425" marB="91425" marR="91425" marL="91425"/>
                </a:tc>
                <a:tc>
                  <a:txBody>
                    <a:bodyPr/>
                    <a:lstStyle/>
                    <a:p>
                      <a:pPr indent="0" lvl="0" marL="0" rtl="0" algn="l">
                        <a:spcBef>
                          <a:spcPts val="0"/>
                        </a:spcBef>
                        <a:spcAft>
                          <a:spcPts val="0"/>
                        </a:spcAft>
                        <a:buNone/>
                      </a:pPr>
                      <a:r>
                        <a:rPr lang="en" sz="1800"/>
                        <a:t>17</a:t>
                      </a:r>
                      <a:endParaRPr sz="1800"/>
                    </a:p>
                  </a:txBody>
                  <a:tcPr marT="91425" marB="91425" marR="91425" marL="91425"/>
                </a:tc>
                <a:tc>
                  <a:txBody>
                    <a:bodyPr/>
                    <a:lstStyle/>
                    <a:p>
                      <a:pPr indent="0" lvl="0" marL="0" rtl="0" algn="l">
                        <a:spcBef>
                          <a:spcPts val="0"/>
                        </a:spcBef>
                        <a:spcAft>
                          <a:spcPts val="0"/>
                        </a:spcAft>
                        <a:buNone/>
                      </a:pPr>
                      <a:r>
                        <a:rPr lang="en" sz="1800"/>
                        <a:t>16</a:t>
                      </a:r>
                      <a:endParaRPr sz="1800"/>
                    </a:p>
                  </a:txBody>
                  <a:tcPr marT="91425" marB="91425" marR="91425" marL="91425"/>
                </a:tc>
                <a:tc>
                  <a:txBody>
                    <a:bodyPr/>
                    <a:lstStyle/>
                    <a:p>
                      <a:pPr indent="0" lvl="0" marL="0" rtl="0" algn="l">
                        <a:spcBef>
                          <a:spcPts val="0"/>
                        </a:spcBef>
                        <a:spcAft>
                          <a:spcPts val="0"/>
                        </a:spcAft>
                        <a:buNone/>
                      </a:pPr>
                      <a:r>
                        <a:rPr lang="en" sz="1800"/>
                        <a:t>15</a:t>
                      </a:r>
                      <a:endParaRPr sz="1800"/>
                    </a:p>
                  </a:txBody>
                  <a:tcPr marT="91425" marB="91425" marR="91425" marL="91425"/>
                </a:tc>
              </a:tr>
              <a:tr h="438925">
                <a:tc>
                  <a:txBody>
                    <a:bodyPr/>
                    <a:lstStyle/>
                    <a:p>
                      <a:pPr indent="0" lvl="0" marL="0" rtl="0" algn="l">
                        <a:spcBef>
                          <a:spcPts val="0"/>
                        </a:spcBef>
                        <a:spcAft>
                          <a:spcPts val="0"/>
                        </a:spcAft>
                        <a:buNone/>
                      </a:pPr>
                      <a:r>
                        <a:rPr lang="en" sz="1800"/>
                        <a:t>C4</a:t>
                      </a:r>
                      <a:endParaRPr sz="1800"/>
                    </a:p>
                  </a:txBody>
                  <a:tcPr marT="91425" marB="91425" marR="91425" marL="91425"/>
                </a:tc>
                <a:tc>
                  <a:txBody>
                    <a:bodyPr/>
                    <a:lstStyle/>
                    <a:p>
                      <a:pPr indent="0" lvl="0" marL="0" rtl="0" algn="l">
                        <a:spcBef>
                          <a:spcPts val="0"/>
                        </a:spcBef>
                        <a:spcAft>
                          <a:spcPts val="0"/>
                        </a:spcAft>
                        <a:buNone/>
                      </a:pPr>
                      <a:r>
                        <a:rPr lang="en" sz="1800"/>
                        <a:t>19</a:t>
                      </a:r>
                      <a:endParaRPr sz="1800"/>
                    </a:p>
                  </a:txBody>
                  <a:tcPr marT="91425" marB="91425" marR="91425" marL="91425"/>
                </a:tc>
                <a:tc>
                  <a:txBody>
                    <a:bodyPr/>
                    <a:lstStyle/>
                    <a:p>
                      <a:pPr indent="0" lvl="0" marL="0" rtl="0" algn="l">
                        <a:spcBef>
                          <a:spcPts val="0"/>
                        </a:spcBef>
                        <a:spcAft>
                          <a:spcPts val="0"/>
                        </a:spcAft>
                        <a:buNone/>
                      </a:pPr>
                      <a:r>
                        <a:rPr lang="en" sz="1800"/>
                        <a:t>17</a:t>
                      </a:r>
                      <a:endParaRPr sz="1800"/>
                    </a:p>
                  </a:txBody>
                  <a:tcPr marT="91425" marB="91425" marR="91425" marL="91425"/>
                </a:tc>
                <a:tc>
                  <a:txBody>
                    <a:bodyPr/>
                    <a:lstStyle/>
                    <a:p>
                      <a:pPr indent="0" lvl="0" marL="0" rtl="0" algn="l">
                        <a:spcBef>
                          <a:spcPts val="0"/>
                        </a:spcBef>
                        <a:spcAft>
                          <a:spcPts val="0"/>
                        </a:spcAft>
                        <a:buNone/>
                      </a:pPr>
                      <a:r>
                        <a:rPr lang="en" sz="1800"/>
                        <a:t>15</a:t>
                      </a:r>
                      <a:endParaRPr sz="1800"/>
                    </a:p>
                  </a:txBody>
                  <a:tcPr marT="91425" marB="91425" marR="91425" marL="91425"/>
                </a:tc>
              </a:tr>
              <a:tr h="438925">
                <a:tc>
                  <a:txBody>
                    <a:bodyPr/>
                    <a:lstStyle/>
                    <a:p>
                      <a:pPr indent="0" lvl="0" marL="0" rtl="0" algn="l">
                        <a:spcBef>
                          <a:spcPts val="0"/>
                        </a:spcBef>
                        <a:spcAft>
                          <a:spcPts val="0"/>
                        </a:spcAft>
                        <a:buNone/>
                      </a:pPr>
                      <a:r>
                        <a:rPr lang="en" sz="1800"/>
                        <a:t>C5</a:t>
                      </a:r>
                      <a:endParaRPr sz="1800"/>
                    </a:p>
                  </a:txBody>
                  <a:tcPr marT="91425" marB="91425" marR="91425" marL="91425"/>
                </a:tc>
                <a:tc>
                  <a:txBody>
                    <a:bodyPr/>
                    <a:lstStyle/>
                    <a:p>
                      <a:pPr indent="0" lvl="0" marL="0" rtl="0" algn="l">
                        <a:spcBef>
                          <a:spcPts val="0"/>
                        </a:spcBef>
                        <a:spcAft>
                          <a:spcPts val="0"/>
                        </a:spcAft>
                        <a:buNone/>
                      </a:pPr>
                      <a:r>
                        <a:rPr lang="en" sz="1800"/>
                        <a:t>16</a:t>
                      </a:r>
                      <a:endParaRPr sz="1800"/>
                    </a:p>
                  </a:txBody>
                  <a:tcPr marT="91425" marB="91425" marR="91425" marL="91425"/>
                </a:tc>
                <a:tc>
                  <a:txBody>
                    <a:bodyPr/>
                    <a:lstStyle/>
                    <a:p>
                      <a:pPr indent="0" lvl="0" marL="0" rtl="0" algn="l">
                        <a:spcBef>
                          <a:spcPts val="0"/>
                        </a:spcBef>
                        <a:spcAft>
                          <a:spcPts val="0"/>
                        </a:spcAft>
                        <a:buNone/>
                      </a:pPr>
                      <a:r>
                        <a:rPr lang="en" sz="1800"/>
                        <a:t>16</a:t>
                      </a:r>
                      <a:endParaRPr sz="1800"/>
                    </a:p>
                  </a:txBody>
                  <a:tcPr marT="91425" marB="91425" marR="91425" marL="91425"/>
                </a:tc>
                <a:tc>
                  <a:txBody>
                    <a:bodyPr/>
                    <a:lstStyle/>
                    <a:p>
                      <a:pPr indent="0" lvl="0" marL="0" rtl="0" algn="l">
                        <a:spcBef>
                          <a:spcPts val="0"/>
                        </a:spcBef>
                        <a:spcAft>
                          <a:spcPts val="0"/>
                        </a:spcAft>
                        <a:buNone/>
                      </a:pPr>
                      <a:r>
                        <a:rPr lang="en" sz="1800"/>
                        <a:t>15</a:t>
                      </a:r>
                      <a:endParaRPr sz="1800"/>
                    </a:p>
                  </a:txBody>
                  <a:tcPr marT="91425" marB="91425" marR="91425" marL="91425"/>
                </a:tc>
              </a:tr>
              <a:tr h="438925">
                <a:tc>
                  <a:txBody>
                    <a:bodyPr/>
                    <a:lstStyle/>
                    <a:p>
                      <a:pPr indent="0" lvl="0" marL="0" rtl="0" algn="l">
                        <a:spcBef>
                          <a:spcPts val="0"/>
                        </a:spcBef>
                        <a:spcAft>
                          <a:spcPts val="0"/>
                        </a:spcAft>
                        <a:buNone/>
                      </a:pPr>
                      <a:r>
                        <a:rPr lang="en" sz="1800"/>
                        <a:t>C6</a:t>
                      </a:r>
                      <a:endParaRPr sz="1800"/>
                    </a:p>
                  </a:txBody>
                  <a:tcPr marT="91425" marB="91425" marR="91425" marL="91425"/>
                </a:tc>
                <a:tc>
                  <a:txBody>
                    <a:bodyPr/>
                    <a:lstStyle/>
                    <a:p>
                      <a:pPr indent="0" lvl="0" marL="0" rtl="0" algn="l">
                        <a:spcBef>
                          <a:spcPts val="0"/>
                        </a:spcBef>
                        <a:spcAft>
                          <a:spcPts val="0"/>
                        </a:spcAft>
                        <a:buNone/>
                      </a:pPr>
                      <a:r>
                        <a:rPr lang="en" sz="1800"/>
                        <a:t>18</a:t>
                      </a:r>
                      <a:endParaRPr sz="1800"/>
                    </a:p>
                  </a:txBody>
                  <a:tcPr marT="91425" marB="91425" marR="91425" marL="91425"/>
                </a:tc>
                <a:tc>
                  <a:txBody>
                    <a:bodyPr/>
                    <a:lstStyle/>
                    <a:p>
                      <a:pPr indent="0" lvl="0" marL="0" rtl="0" algn="l">
                        <a:spcBef>
                          <a:spcPts val="0"/>
                        </a:spcBef>
                        <a:spcAft>
                          <a:spcPts val="0"/>
                        </a:spcAft>
                        <a:buNone/>
                      </a:pPr>
                      <a:r>
                        <a:rPr lang="en" sz="1800"/>
                        <a:t>17</a:t>
                      </a:r>
                      <a:endParaRPr sz="1800"/>
                    </a:p>
                  </a:txBody>
                  <a:tcPr marT="91425" marB="91425" marR="91425" marL="91425"/>
                </a:tc>
                <a:tc>
                  <a:txBody>
                    <a:bodyPr/>
                    <a:lstStyle/>
                    <a:p>
                      <a:pPr indent="0" lvl="0" marL="0" rtl="0" algn="l">
                        <a:spcBef>
                          <a:spcPts val="0"/>
                        </a:spcBef>
                        <a:spcAft>
                          <a:spcPts val="0"/>
                        </a:spcAft>
                        <a:buNone/>
                      </a:pPr>
                      <a:r>
                        <a:rPr lang="en" sz="1800"/>
                        <a:t>15</a:t>
                      </a:r>
                      <a:endParaRPr sz="1800"/>
                    </a:p>
                  </a:txBody>
                  <a:tcPr marT="91425" marB="91425" marR="91425" marL="91425"/>
                </a:tc>
              </a:tr>
            </a:tbl>
          </a:graphicData>
        </a:graphic>
      </p:graphicFrame>
      <p:sp>
        <p:nvSpPr>
          <p:cNvPr id="101" name="Google Shape;101;p20"/>
          <p:cNvSpPr txBox="1"/>
          <p:nvPr/>
        </p:nvSpPr>
        <p:spPr>
          <a:xfrm>
            <a:off x="411025" y="4543600"/>
            <a:ext cx="84213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500">
                <a:solidFill>
                  <a:schemeClr val="dk2"/>
                </a:solidFill>
              </a:rPr>
              <a:t>All searches timed out; none proved 15 impossible.</a:t>
            </a:r>
            <a:endParaRPr sz="1500">
              <a:solidFill>
                <a:schemeClr val="dk2"/>
              </a:solidFill>
            </a:endParaRPr>
          </a:p>
          <a:p>
            <a:pPr indent="0" lvl="0" marL="0" rtl="0" algn="l">
              <a:spcBef>
                <a:spcPts val="0"/>
              </a:spcBef>
              <a:spcAft>
                <a:spcPts val="0"/>
              </a:spcAft>
              <a:buClr>
                <a:schemeClr val="dk1"/>
              </a:buClr>
              <a:buSzPts val="1100"/>
              <a:buFont typeface="Arial"/>
              <a:buNone/>
            </a:pPr>
            <a:r>
              <a:rPr lang="en" sz="1500">
                <a:solidFill>
                  <a:schemeClr val="dk2"/>
                </a:solidFill>
              </a:rPr>
              <a:t>The charging stages have also finished. “Heuristics” changes MIP search settings.</a:t>
            </a:r>
            <a:endParaRPr sz="1500">
              <a:solidFill>
                <a:schemeClr val="dk2"/>
              </a:solidFill>
            </a:endParaRPr>
          </a:p>
          <a:p>
            <a:pPr indent="0" lvl="0" marL="0" rtl="0" algn="l">
              <a:spcBef>
                <a:spcPts val="0"/>
              </a:spcBef>
              <a:spcAft>
                <a:spcPts val="0"/>
              </a:spcAft>
              <a:buNone/>
            </a:pPr>
            <a:r>
              <a:t/>
            </a:r>
            <a:endParaRPr sz="1500">
              <a:solidFill>
                <a:schemeClr val="dk2"/>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Capacity pricing: progress, but not yet convergence</a:t>
            </a:r>
            <a:endParaRPr/>
          </a:p>
        </p:txBody>
      </p:sp>
      <p:sp>
        <p:nvSpPr>
          <p:cNvPr id="107" name="Google Shape;107;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08" name="Google Shape;108;p21" title="capacity_on_off_plot.png"/>
          <p:cNvPicPr preferRelativeResize="0"/>
          <p:nvPr/>
        </p:nvPicPr>
        <p:blipFill rotWithShape="1">
          <a:blip r:embed="rId3">
            <a:alphaModFix/>
          </a:blip>
          <a:srcRect b="0" l="0" r="0" t="0"/>
          <a:stretch/>
        </p:blipFill>
        <p:spPr>
          <a:xfrm>
            <a:off x="0" y="1256815"/>
            <a:ext cx="9144003" cy="3585271"/>
          </a:xfrm>
          <a:prstGeom prst="rect">
            <a:avLst/>
          </a:prstGeom>
          <a:noFill/>
          <a:ln>
            <a:noFill/>
          </a:ln>
        </p:spPr>
      </p:pic>
      <p:sp>
        <p:nvSpPr>
          <p:cNvPr id="109" name="Google Shape;109;p21"/>
          <p:cNvSpPr txBox="1"/>
          <p:nvPr/>
        </p:nvSpPr>
        <p:spPr>
          <a:xfrm>
            <a:off x="333275" y="4832450"/>
            <a:ext cx="8643000" cy="31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4 h budgets. Only k=1 with the shortcut certified CG (26.9 min); the other five timed out.</a:t>
            </a:r>
            <a:endParaRPr>
              <a:solidFill>
                <a:schemeClr val="dk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strict large run stalled before pricing</a:t>
            </a:r>
            <a:endParaRPr/>
          </a:p>
        </p:txBody>
      </p:sp>
      <p:sp>
        <p:nvSpPr>
          <p:cNvPr id="115" name="Google Shape;115;p2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2000"/>
              <a:t>k=15: 4 h 17 min to build 260.7 million arcs; zero pricing.</a:t>
            </a:r>
            <a:endParaRPr sz="2000"/>
          </a:p>
          <a:p>
            <a:pPr indent="0" lvl="0" marL="0" rtl="0" algn="l">
              <a:spcBef>
                <a:spcPts val="1200"/>
              </a:spcBef>
              <a:spcAft>
                <a:spcPts val="0"/>
              </a:spcAft>
              <a:buClr>
                <a:schemeClr val="dk1"/>
              </a:buClr>
              <a:buSzPts val="1100"/>
              <a:buFont typeface="Arial"/>
              <a:buNone/>
            </a:pPr>
            <a:r>
              <a:rPr lang="en" sz="2000"/>
              <a:t>k=16: six-hour timeout, peak memory 211.9 GiB.</a:t>
            </a:r>
            <a:endParaRPr sz="2000"/>
          </a:p>
          <a:p>
            <a:pPr indent="0" lvl="0" marL="0" rtl="0" algn="l">
              <a:spcBef>
                <a:spcPts val="1200"/>
              </a:spcBef>
              <a:spcAft>
                <a:spcPts val="0"/>
              </a:spcAft>
              <a:buClr>
                <a:schemeClr val="dk1"/>
              </a:buClr>
              <a:buSzPts val="1100"/>
              <a:buFont typeface="Arial"/>
              <a:buNone/>
            </a:pPr>
            <a:r>
              <a:rPr lang="en" sz="2000"/>
              <a:t>Fix: packed arcs and deferred tie-break keys; physics unchanged.</a:t>
            </a:r>
            <a:endParaRPr sz="2000"/>
          </a:p>
          <a:p>
            <a:pPr indent="0" lvl="0" marL="0" rtl="0" algn="l">
              <a:spcBef>
                <a:spcPts val="1200"/>
              </a:spcBef>
              <a:spcAft>
                <a:spcPts val="0"/>
              </a:spcAft>
              <a:buClr>
                <a:schemeClr val="dk1"/>
              </a:buClr>
              <a:buSzPts val="1100"/>
              <a:buFont typeface="Arial"/>
              <a:buNone/>
            </a:pPr>
            <a:r>
              <a:rPr lang="en" sz="2000"/>
              <a:t>44 tests pass, plus five fixed-dual and physical replay checks.</a:t>
            </a:r>
            <a:endParaRPr sz="2000"/>
          </a:p>
          <a:p>
            <a:pPr indent="0" lvl="0" marL="0" rtl="0" algn="l">
              <a:spcBef>
                <a:spcPts val="1200"/>
              </a:spcBef>
              <a:spcAft>
                <a:spcPts val="0"/>
              </a:spcAft>
              <a:buClr>
                <a:schemeClr val="dk1"/>
              </a:buClr>
              <a:buSzPts val="1100"/>
              <a:buFont typeface="Arial"/>
              <a:buNone/>
            </a:pPr>
            <a:r>
              <a:rPr lang="en" sz="2000"/>
              <a:t>26-trip audit: graph build 121 → 42 s; memory 2.06 → 0.147 GiB.</a:t>
            </a:r>
            <a:endParaRPr sz="2000"/>
          </a:p>
          <a:p>
            <a:pPr indent="0" lvl="0" marL="0" rtl="0" algn="l">
              <a:spcBef>
                <a:spcPts val="1200"/>
              </a:spcBef>
              <a:spcAft>
                <a:spcPts val="0"/>
              </a:spcAft>
              <a:buClr>
                <a:schemeClr val="dk1"/>
              </a:buClr>
              <a:buSzPts val="1100"/>
              <a:buFont typeface="Arial"/>
              <a:buNone/>
            </a:pPr>
            <a:r>
              <a:rPr lang="en" sz="2000"/>
              <a:t>The new k=16 CG is running; its large-case result is pending.</a:t>
            </a:r>
            <a:endParaRPr sz="2000"/>
          </a:p>
          <a:p>
            <a:pPr indent="0" lvl="0" marL="0" rtl="0" algn="l">
              <a:spcBef>
                <a:spcPts val="1200"/>
              </a:spcBef>
              <a:spcAft>
                <a:spcPts val="1200"/>
              </a:spcAft>
              <a:buNone/>
            </a:pPr>
            <a:r>
              <a:t/>
            </a:r>
            <a:endParaRPr sz="20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Remove duplicate service, then optimize charging</a:t>
            </a:r>
            <a:endParaRPr/>
          </a:p>
        </p:txBody>
      </p:sp>
      <p:sp>
        <p:nvSpPr>
          <p:cNvPr id="121" name="Google Shape;121;p2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2000"/>
              <a:t>Choose exactly one bus to serve each duplicated trip.</a:t>
            </a:r>
            <a:endParaRPr sz="2000"/>
          </a:p>
          <a:p>
            <a:pPr indent="0" lvl="0" marL="0" rtl="0" algn="l">
              <a:spcBef>
                <a:spcPts val="1200"/>
              </a:spcBef>
              <a:spcAft>
                <a:spcPts val="0"/>
              </a:spcAft>
              <a:buClr>
                <a:schemeClr val="dk1"/>
              </a:buClr>
              <a:buSzPts val="1100"/>
              <a:buFont typeface="Arial"/>
              <a:buNone/>
            </a:pPr>
            <a:r>
              <a:rPr lang="en" sz="2000"/>
              <a:t>Retain movement if needed; waiting at the wrong stop is invalid.</a:t>
            </a:r>
            <a:endParaRPr sz="2000"/>
          </a:p>
          <a:p>
            <a:pPr indent="0" lvl="0" marL="0" rtl="0" algn="l">
              <a:spcBef>
                <a:spcPts val="1200"/>
              </a:spcBef>
              <a:spcAft>
                <a:spcPts val="0"/>
              </a:spcAft>
              <a:buClr>
                <a:schemeClr val="dk1"/>
              </a:buClr>
              <a:buSzPts val="1100"/>
              <a:buFont typeface="Arial"/>
              <a:buNone/>
            </a:pPr>
            <a:r>
              <a:rPr lang="en" sz="2000"/>
              <a:t>Try shorter connections, then check time, SOC and chargers.</a:t>
            </a:r>
            <a:endParaRPr sz="2000"/>
          </a:p>
          <a:p>
            <a:pPr indent="0" lvl="0" marL="0" rtl="0" algn="l">
              <a:spcBef>
                <a:spcPts val="1200"/>
              </a:spcBef>
              <a:spcAft>
                <a:spcPts val="0"/>
              </a:spcAft>
              <a:buClr>
                <a:schemeClr val="dk1"/>
              </a:buClr>
              <a:buSzPts val="1100"/>
              <a:buFont typeface="Arial"/>
              <a:buNone/>
            </a:pPr>
            <a:r>
              <a:rPr lang="en" sz="2000"/>
              <a:t>Reoptimize charging after making the service assignment.</a:t>
            </a:r>
            <a:endParaRPr sz="2000"/>
          </a:p>
          <a:p>
            <a:pPr indent="0" lvl="0" marL="0" rtl="0" algn="l">
              <a:spcBef>
                <a:spcPts val="1200"/>
              </a:spcBef>
              <a:spcAft>
                <a:spcPts val="0"/>
              </a:spcAft>
              <a:buClr>
                <a:schemeClr val="dk1"/>
              </a:buClr>
              <a:buSzPts val="1100"/>
              <a:buFont typeface="Arial"/>
              <a:buNone/>
            </a:pPr>
            <a:r>
              <a:rPr lang="en" sz="2000"/>
              <a:t>Tested k=5: 5 buses, 62 trips served exactly once.</a:t>
            </a:r>
            <a:endParaRPr sz="2000"/>
          </a:p>
          <a:p>
            <a:pPr indent="0" lvl="0" marL="0" rtl="0" algn="l">
              <a:spcBef>
                <a:spcPts val="1200"/>
              </a:spcBef>
              <a:spcAft>
                <a:spcPts val="0"/>
              </a:spcAft>
              <a:buClr>
                <a:schemeClr val="dk1"/>
              </a:buClr>
              <a:buSzPts val="1100"/>
              <a:buFont typeface="Arial"/>
              <a:buNone/>
            </a:pPr>
            <a:r>
              <a:rPr lang="en" sz="2000"/>
              <a:t>Charging energy fell 80.87 kWh; electricity cost fell 2.58.</a:t>
            </a:r>
            <a:endParaRPr sz="2000"/>
          </a:p>
          <a:p>
            <a:pPr indent="0" lvl="0" marL="0" rtl="0" algn="l">
              <a:spcBef>
                <a:spcPts val="1200"/>
              </a:spcBef>
              <a:spcAft>
                <a:spcPts val="1200"/>
              </a:spcAft>
              <a:buNone/>
            </a:pPr>
            <a:r>
              <a:t/>
            </a:r>
            <a:endParaRPr sz="20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4"/>
          <p:cNvSpPr txBox="1"/>
          <p:nvPr>
            <p:ph type="title"/>
          </p:nvPr>
        </p:nvSpPr>
        <p:spPr>
          <a:xfrm>
            <a:off x="311700" y="111100"/>
            <a:ext cx="8520600" cy="906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k=5: charging under matched vehicle physics</a:t>
            </a:r>
            <a:endParaRPr/>
          </a:p>
        </p:txBody>
      </p:sp>
      <p:sp>
        <p:nvSpPr>
          <p:cNvPr id="127" name="Google Shape;127;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28" name="Google Shape;128;p24" title="one_bus_k5_joint_matched.png"/>
          <p:cNvPicPr preferRelativeResize="0"/>
          <p:nvPr/>
        </p:nvPicPr>
        <p:blipFill>
          <a:blip r:embed="rId3">
            <a:alphaModFix/>
          </a:blip>
          <a:stretch>
            <a:fillRect/>
          </a:stretch>
        </p:blipFill>
        <p:spPr>
          <a:xfrm>
            <a:off x="611000" y="716949"/>
            <a:ext cx="8040950" cy="428745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matched—and what this test measures</a:t>
            </a:r>
            <a:endParaRPr/>
          </a:p>
        </p:txBody>
      </p:sp>
      <p:sp>
        <p:nvSpPr>
          <p:cNvPr id="134" name="Google Shape;134;p2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236.44 kWh battery • 15% reserve • PARX at 60 kW</a:t>
            </a:r>
            <a:endParaRPr/>
          </a:p>
          <a:p>
            <a:pPr indent="0" lvl="0" marL="0" rtl="0" algn="l">
              <a:spcBef>
                <a:spcPts val="1200"/>
              </a:spcBef>
              <a:spcAft>
                <a:spcPts val="0"/>
              </a:spcAft>
              <a:buClr>
                <a:schemeClr val="dk1"/>
              </a:buClr>
              <a:buSzPts val="1100"/>
              <a:buFont typeface="Arial"/>
              <a:buNone/>
            </a:pPr>
            <a:r>
              <a:rPr lang="en"/>
              <a:t>Documented opportunity-charge taper • minimum 3 minutes</a:t>
            </a:r>
            <a:endParaRPr/>
          </a:p>
          <a:p>
            <a:pPr indent="0" lvl="0" marL="0" rtl="0" algn="l">
              <a:spcBef>
                <a:spcPts val="1200"/>
              </a:spcBef>
              <a:spcAft>
                <a:spcPts val="0"/>
              </a:spcAft>
              <a:buClr>
                <a:schemeClr val="dk1"/>
              </a:buClr>
              <a:buSzPts val="1100"/>
              <a:buFont typeface="Arial"/>
              <a:buNone/>
            </a:pPr>
            <a:r>
              <a:rPr lang="en"/>
              <a:t>One charger per opportunity site • equal terminal energy</a:t>
            </a:r>
            <a:endParaRPr/>
          </a:p>
          <a:p>
            <a:pPr indent="0" lvl="0" marL="0" rtl="0" algn="l">
              <a:spcBef>
                <a:spcPts val="1200"/>
              </a:spcBef>
              <a:spcAft>
                <a:spcPts val="0"/>
              </a:spcAft>
              <a:buClr>
                <a:schemeClr val="dk1"/>
              </a:buClr>
              <a:buSzPts val="1100"/>
              <a:buFont typeface="Arial"/>
              <a:buNone/>
            </a:pPr>
            <a:r>
              <a:rPr lang="en"/>
              <a:t>Five buses and the same 62 trips, served exactly once</a:t>
            </a:r>
            <a:endParaRPr/>
          </a:p>
          <a:p>
            <a:pPr indent="0" lvl="0" marL="0" rtl="0" algn="l">
              <a:spcBef>
                <a:spcPts val="1200"/>
              </a:spcBef>
              <a:spcAft>
                <a:spcPts val="0"/>
              </a:spcAft>
              <a:buClr>
                <a:schemeClr val="dk1"/>
              </a:buClr>
              <a:buSzPts val="1100"/>
              <a:buFont typeface="Arial"/>
              <a:buNone/>
            </a:pPr>
            <a:r>
              <a:rPr lang="en"/>
              <a:t>Saved sequences differ: not fresh CG or a fee-only causal test.</a:t>
            </a:r>
            <a:endParaRPr/>
          </a:p>
          <a:p>
            <a:pPr indent="0" lvl="0" marL="0" rtl="0" algn="l">
              <a:spcBef>
                <a:spcPts val="1200"/>
              </a:spcBef>
              <a:spcAft>
                <a:spcPts val="0"/>
              </a:spcAft>
              <a:buClr>
                <a:schemeClr val="dk1"/>
              </a:buClr>
              <a:buSzPts val="1100"/>
              <a:buFont typeface="Arial"/>
              <a:buNone/>
            </a:pPr>
            <a:r>
              <a:rPr lang="en"/>
              <a:t>Static deadhead; platform/FIFO and crew rules remain unchecked.</a:t>
            </a:r>
            <a:endParaRPr/>
          </a:p>
          <a:p>
            <a:pPr indent="0" lvl="0" marL="0" rtl="0" algn="l">
              <a:spcBef>
                <a:spcPts val="1200"/>
              </a:spcBef>
              <a:spcAft>
                <a:spcPts val="0"/>
              </a:spcAft>
              <a:buClr>
                <a:schemeClr val="dk1"/>
              </a:buClr>
              <a:buSzPts val="1100"/>
              <a:buFont typeface="Arial"/>
              <a:buNone/>
            </a:pPr>
            <a:r>
              <a:rPr lang="en"/>
              <a:t>Capacity checked for these five buses, without the other duties.</a:t>
            </a:r>
            <a:endParaRPr/>
          </a:p>
          <a:p>
            <a:pPr indent="0" lvl="0" marL="0" rtl="0" algn="l">
              <a:spcBef>
                <a:spcPts val="1200"/>
              </a:spcBef>
              <a:spcAft>
                <a:spcPts val="120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Matched k=5: charging costs and session counts</a:t>
            </a:r>
            <a:endParaRPr/>
          </a:p>
        </p:txBody>
      </p:sp>
      <p:graphicFrame>
        <p:nvGraphicFramePr>
          <p:cNvPr id="140" name="Google Shape;140;p26"/>
          <p:cNvGraphicFramePr/>
          <p:nvPr/>
        </p:nvGraphicFramePr>
        <p:xfrm>
          <a:off x="952500" y="1619250"/>
          <a:ext cx="3000000" cy="3000000"/>
        </p:xfrm>
        <a:graphic>
          <a:graphicData uri="http://schemas.openxmlformats.org/drawingml/2006/table">
            <a:tbl>
              <a:tblPr>
                <a:noFill/>
                <a:tableStyleId>{1F74DFAD-7EDC-4E98-B434-54EEA7EA7E2C}</a:tableStyleId>
              </a:tblPr>
              <a:tblGrid>
                <a:gridCol w="1447800"/>
                <a:gridCol w="1447800"/>
                <a:gridCol w="1447800"/>
                <a:gridCol w="1447800"/>
                <a:gridCol w="1447800"/>
              </a:tblGrid>
              <a:tr h="381000">
                <a:tc>
                  <a:txBody>
                    <a:bodyPr/>
                    <a:lstStyle/>
                    <a:p>
                      <a:pPr indent="0" lvl="0" marL="0" rtl="0" algn="l">
                        <a:spcBef>
                          <a:spcPts val="0"/>
                        </a:spcBef>
                        <a:spcAft>
                          <a:spcPts val="0"/>
                        </a:spcAft>
                        <a:buNone/>
                      </a:pPr>
                      <a:r>
                        <a:rPr lang="en" sz="1800"/>
                        <a:t>Schedule</a:t>
                      </a:r>
                      <a:endParaRPr sz="1800"/>
                    </a:p>
                  </a:txBody>
                  <a:tcPr marT="91425" marB="91425" marR="91425" marL="91425"/>
                </a:tc>
                <a:tc>
                  <a:txBody>
                    <a:bodyPr/>
                    <a:lstStyle/>
                    <a:p>
                      <a:pPr indent="0" lvl="0" marL="0" rtl="0" algn="l">
                        <a:spcBef>
                          <a:spcPts val="0"/>
                        </a:spcBef>
                        <a:spcAft>
                          <a:spcPts val="0"/>
                        </a:spcAft>
                        <a:buNone/>
                      </a:pPr>
                      <a:r>
                        <a:rPr lang="en" sz="1800"/>
                        <a:t>Electricity</a:t>
                      </a:r>
                      <a:endParaRPr sz="1800"/>
                    </a:p>
                  </a:txBody>
                  <a:tcPr marT="91425" marB="91425" marR="91425" marL="91425"/>
                </a:tc>
                <a:tc>
                  <a:txBody>
                    <a:bodyPr/>
                    <a:lstStyle/>
                    <a:p>
                      <a:pPr indent="0" lvl="0" marL="0" rtl="0" algn="l">
                        <a:spcBef>
                          <a:spcPts val="0"/>
                        </a:spcBef>
                        <a:spcAft>
                          <a:spcPts val="0"/>
                        </a:spcAft>
                        <a:buNone/>
                      </a:pPr>
                      <a:r>
                        <a:rPr lang="en" sz="1800"/>
                        <a:t>Starts</a:t>
                      </a:r>
                      <a:endParaRPr sz="1800"/>
                    </a:p>
                  </a:txBody>
                  <a:tcPr marT="91425" marB="91425" marR="91425" marL="91425"/>
                </a:tc>
                <a:tc>
                  <a:txBody>
                    <a:bodyPr/>
                    <a:lstStyle/>
                    <a:p>
                      <a:pPr indent="0" lvl="0" marL="0" rtl="0" algn="l">
                        <a:spcBef>
                          <a:spcPts val="0"/>
                        </a:spcBef>
                        <a:spcAft>
                          <a:spcPts val="0"/>
                        </a:spcAft>
                        <a:buNone/>
                      </a:pPr>
                      <a:r>
                        <a:rPr lang="en" sz="1800"/>
                        <a:t>Start fees</a:t>
                      </a:r>
                      <a:endParaRPr sz="1800"/>
                    </a:p>
                  </a:txBody>
                  <a:tcPr marT="91425" marB="91425" marR="91425" marL="91425"/>
                </a:tc>
                <a:tc>
                  <a:txBody>
                    <a:bodyPr/>
                    <a:lstStyle/>
                    <a:p>
                      <a:pPr indent="0" lvl="0" marL="0" rtl="0" algn="l">
                        <a:spcBef>
                          <a:spcPts val="0"/>
                        </a:spcBef>
                        <a:spcAft>
                          <a:spcPts val="0"/>
                        </a:spcAft>
                        <a:buNone/>
                      </a:pPr>
                      <a:r>
                        <a:rPr lang="en" sz="1800"/>
                        <a:t>Total</a:t>
                      </a:r>
                      <a:endParaRPr sz="1800"/>
                    </a:p>
                  </a:txBody>
                  <a:tcPr marT="91425" marB="91425" marR="91425" marL="91425"/>
                </a:tc>
              </a:tr>
              <a:tr h="381000">
                <a:tc>
                  <a:txBody>
                    <a:bodyPr/>
                    <a:lstStyle/>
                    <a:p>
                      <a:pPr indent="0" lvl="0" marL="0" rtl="0" algn="l">
                        <a:spcBef>
                          <a:spcPts val="0"/>
                        </a:spcBef>
                        <a:spcAft>
                          <a:spcPts val="0"/>
                        </a:spcAft>
                        <a:buNone/>
                      </a:pPr>
                      <a:r>
                        <a:rPr lang="en" sz="1800"/>
                        <a:t>GIRO, fee 0</a:t>
                      </a:r>
                      <a:endParaRPr sz="1800"/>
                    </a:p>
                  </a:txBody>
                  <a:tcPr marT="91425" marB="91425" marR="91425" marL="91425"/>
                </a:tc>
                <a:tc>
                  <a:txBody>
                    <a:bodyPr/>
                    <a:lstStyle/>
                    <a:p>
                      <a:pPr indent="0" lvl="0" marL="0" rtl="0" algn="l">
                        <a:spcBef>
                          <a:spcPts val="0"/>
                        </a:spcBef>
                        <a:spcAft>
                          <a:spcPts val="0"/>
                        </a:spcAft>
                        <a:buNone/>
                      </a:pPr>
                      <a:r>
                        <a:rPr lang="en" sz="1800"/>
                        <a:t>230.64</a:t>
                      </a:r>
                      <a:endParaRPr sz="1800"/>
                    </a:p>
                  </a:txBody>
                  <a:tcPr marT="91425" marB="91425" marR="91425" marL="91425"/>
                </a:tc>
                <a:tc>
                  <a:txBody>
                    <a:bodyPr/>
                    <a:lstStyle/>
                    <a:p>
                      <a:pPr indent="0" lvl="0" marL="0" rtl="0" algn="l">
                        <a:spcBef>
                          <a:spcPts val="0"/>
                        </a:spcBef>
                        <a:spcAft>
                          <a:spcPts val="0"/>
                        </a:spcAft>
                        <a:buNone/>
                      </a:pPr>
                      <a:r>
                        <a:rPr lang="en" sz="1800"/>
                        <a:t>52</a:t>
                      </a:r>
                      <a:endParaRPr sz="1800"/>
                    </a:p>
                  </a:txBody>
                  <a:tcPr marT="91425" marB="91425" marR="91425" marL="91425"/>
                </a:tc>
                <a:tc>
                  <a:txBody>
                    <a:bodyPr/>
                    <a:lstStyle/>
                    <a:p>
                      <a:pPr indent="0" lvl="0" marL="0" rtl="0" algn="l">
                        <a:spcBef>
                          <a:spcPts val="0"/>
                        </a:spcBef>
                        <a:spcAft>
                          <a:spcPts val="0"/>
                        </a:spcAft>
                        <a:buNone/>
                      </a:pPr>
                      <a:r>
                        <a:rPr lang="en" sz="1800"/>
                        <a:t>0</a:t>
                      </a:r>
                      <a:endParaRPr sz="1800"/>
                    </a:p>
                  </a:txBody>
                  <a:tcPr marT="91425" marB="91425" marR="91425" marL="91425"/>
                </a:tc>
                <a:tc>
                  <a:txBody>
                    <a:bodyPr/>
                    <a:lstStyle/>
                    <a:p>
                      <a:pPr indent="0" lvl="0" marL="0" rtl="0" algn="l">
                        <a:spcBef>
                          <a:spcPts val="0"/>
                        </a:spcBef>
                        <a:spcAft>
                          <a:spcPts val="0"/>
                        </a:spcAft>
                        <a:buNone/>
                      </a:pPr>
                      <a:r>
                        <a:rPr lang="en" sz="1800"/>
                        <a:t>230.64</a:t>
                      </a:r>
                      <a:endParaRPr sz="1800"/>
                    </a:p>
                  </a:txBody>
                  <a:tcPr marT="91425" marB="91425" marR="91425" marL="91425"/>
                </a:tc>
              </a:tr>
              <a:tr h="381000">
                <a:tc>
                  <a:txBody>
                    <a:bodyPr/>
                    <a:lstStyle/>
                    <a:p>
                      <a:pPr indent="0" lvl="0" marL="0" rtl="0" algn="l">
                        <a:spcBef>
                          <a:spcPts val="0"/>
                        </a:spcBef>
                        <a:spcAft>
                          <a:spcPts val="0"/>
                        </a:spcAft>
                        <a:buNone/>
                      </a:pPr>
                      <a:r>
                        <a:rPr lang="en" sz="1800"/>
                        <a:t>Ours, fee 0</a:t>
                      </a:r>
                      <a:endParaRPr sz="1800"/>
                    </a:p>
                  </a:txBody>
                  <a:tcPr marT="91425" marB="91425" marR="91425" marL="91425"/>
                </a:tc>
                <a:tc>
                  <a:txBody>
                    <a:bodyPr/>
                    <a:lstStyle/>
                    <a:p>
                      <a:pPr indent="0" lvl="0" marL="0" rtl="0" algn="l">
                        <a:spcBef>
                          <a:spcPts val="0"/>
                        </a:spcBef>
                        <a:spcAft>
                          <a:spcPts val="0"/>
                        </a:spcAft>
                        <a:buNone/>
                      </a:pPr>
                      <a:r>
                        <a:rPr lang="en" sz="1800"/>
                        <a:t>158.71</a:t>
                      </a:r>
                      <a:endParaRPr sz="1800"/>
                    </a:p>
                  </a:txBody>
                  <a:tcPr marT="91425" marB="91425" marR="91425" marL="91425"/>
                </a:tc>
                <a:tc>
                  <a:txBody>
                    <a:bodyPr/>
                    <a:lstStyle/>
                    <a:p>
                      <a:pPr indent="0" lvl="0" marL="0" rtl="0" algn="l">
                        <a:spcBef>
                          <a:spcPts val="0"/>
                        </a:spcBef>
                        <a:spcAft>
                          <a:spcPts val="0"/>
                        </a:spcAft>
                        <a:buNone/>
                      </a:pPr>
                      <a:r>
                        <a:rPr lang="en" sz="1800"/>
                        <a:t>42</a:t>
                      </a:r>
                      <a:endParaRPr sz="1800"/>
                    </a:p>
                  </a:txBody>
                  <a:tcPr marT="91425" marB="91425" marR="91425" marL="91425"/>
                </a:tc>
                <a:tc>
                  <a:txBody>
                    <a:bodyPr/>
                    <a:lstStyle/>
                    <a:p>
                      <a:pPr indent="0" lvl="0" marL="0" rtl="0" algn="l">
                        <a:spcBef>
                          <a:spcPts val="0"/>
                        </a:spcBef>
                        <a:spcAft>
                          <a:spcPts val="0"/>
                        </a:spcAft>
                        <a:buNone/>
                      </a:pPr>
                      <a:r>
                        <a:rPr lang="en" sz="1800"/>
                        <a:t>0</a:t>
                      </a:r>
                      <a:endParaRPr sz="1800"/>
                    </a:p>
                  </a:txBody>
                  <a:tcPr marT="91425" marB="91425" marR="91425" marL="91425"/>
                </a:tc>
                <a:tc>
                  <a:txBody>
                    <a:bodyPr/>
                    <a:lstStyle/>
                    <a:p>
                      <a:pPr indent="0" lvl="0" marL="0" rtl="0" algn="l">
                        <a:spcBef>
                          <a:spcPts val="0"/>
                        </a:spcBef>
                        <a:spcAft>
                          <a:spcPts val="0"/>
                        </a:spcAft>
                        <a:buNone/>
                      </a:pPr>
                      <a:r>
                        <a:rPr lang="en" sz="1800"/>
                        <a:t>158.71</a:t>
                      </a:r>
                      <a:endParaRPr sz="1800"/>
                    </a:p>
                  </a:txBody>
                  <a:tcPr marT="91425" marB="91425" marR="91425" marL="91425"/>
                </a:tc>
              </a:tr>
              <a:tr h="381000">
                <a:tc>
                  <a:txBody>
                    <a:bodyPr/>
                    <a:lstStyle/>
                    <a:p>
                      <a:pPr indent="0" lvl="0" marL="0" rtl="0" algn="l">
                        <a:spcBef>
                          <a:spcPts val="0"/>
                        </a:spcBef>
                        <a:spcAft>
                          <a:spcPts val="0"/>
                        </a:spcAft>
                        <a:buNone/>
                      </a:pPr>
                      <a:r>
                        <a:rPr lang="en" sz="1800"/>
                        <a:t>GIRO, fee 5</a:t>
                      </a:r>
                      <a:endParaRPr sz="1800"/>
                    </a:p>
                  </a:txBody>
                  <a:tcPr marT="91425" marB="91425" marR="91425" marL="91425"/>
                </a:tc>
                <a:tc>
                  <a:txBody>
                    <a:bodyPr/>
                    <a:lstStyle/>
                    <a:p>
                      <a:pPr indent="0" lvl="0" marL="0" rtl="0" algn="l">
                        <a:spcBef>
                          <a:spcPts val="0"/>
                        </a:spcBef>
                        <a:spcAft>
                          <a:spcPts val="0"/>
                        </a:spcAft>
                        <a:buNone/>
                      </a:pPr>
                      <a:r>
                        <a:rPr lang="en" sz="1800"/>
                        <a:t>230.64</a:t>
                      </a:r>
                      <a:endParaRPr sz="1800"/>
                    </a:p>
                  </a:txBody>
                  <a:tcPr marT="91425" marB="91425" marR="91425" marL="91425"/>
                </a:tc>
                <a:tc>
                  <a:txBody>
                    <a:bodyPr/>
                    <a:lstStyle/>
                    <a:p>
                      <a:pPr indent="0" lvl="0" marL="0" rtl="0" algn="l">
                        <a:spcBef>
                          <a:spcPts val="0"/>
                        </a:spcBef>
                        <a:spcAft>
                          <a:spcPts val="0"/>
                        </a:spcAft>
                        <a:buNone/>
                      </a:pPr>
                      <a:r>
                        <a:rPr lang="en" sz="1800"/>
                        <a:t>52</a:t>
                      </a:r>
                      <a:endParaRPr sz="1800"/>
                    </a:p>
                  </a:txBody>
                  <a:tcPr marT="91425" marB="91425" marR="91425" marL="91425"/>
                </a:tc>
                <a:tc>
                  <a:txBody>
                    <a:bodyPr/>
                    <a:lstStyle/>
                    <a:p>
                      <a:pPr indent="0" lvl="0" marL="0" rtl="0" algn="l">
                        <a:spcBef>
                          <a:spcPts val="0"/>
                        </a:spcBef>
                        <a:spcAft>
                          <a:spcPts val="0"/>
                        </a:spcAft>
                        <a:buNone/>
                      </a:pPr>
                      <a:r>
                        <a:rPr lang="en" sz="1800"/>
                        <a:t>260</a:t>
                      </a:r>
                      <a:endParaRPr sz="1800"/>
                    </a:p>
                  </a:txBody>
                  <a:tcPr marT="91425" marB="91425" marR="91425" marL="91425"/>
                </a:tc>
                <a:tc>
                  <a:txBody>
                    <a:bodyPr/>
                    <a:lstStyle/>
                    <a:p>
                      <a:pPr indent="0" lvl="0" marL="0" rtl="0" algn="l">
                        <a:spcBef>
                          <a:spcPts val="0"/>
                        </a:spcBef>
                        <a:spcAft>
                          <a:spcPts val="0"/>
                        </a:spcAft>
                        <a:buNone/>
                      </a:pPr>
                      <a:r>
                        <a:rPr lang="en" sz="1800"/>
                        <a:t>490.64</a:t>
                      </a:r>
                      <a:endParaRPr sz="1800"/>
                    </a:p>
                  </a:txBody>
                  <a:tcPr marT="91425" marB="91425" marR="91425" marL="91425"/>
                </a:tc>
              </a:tr>
              <a:tr h="381000">
                <a:tc>
                  <a:txBody>
                    <a:bodyPr/>
                    <a:lstStyle/>
                    <a:p>
                      <a:pPr indent="0" lvl="0" marL="0" rtl="0" algn="l">
                        <a:spcBef>
                          <a:spcPts val="0"/>
                        </a:spcBef>
                        <a:spcAft>
                          <a:spcPts val="0"/>
                        </a:spcAft>
                        <a:buNone/>
                      </a:pPr>
                      <a:r>
                        <a:rPr lang="en" sz="1800"/>
                        <a:t>Ours, fee 5</a:t>
                      </a:r>
                      <a:endParaRPr sz="1800"/>
                    </a:p>
                  </a:txBody>
                  <a:tcPr marT="91425" marB="91425" marR="91425" marL="91425"/>
                </a:tc>
                <a:tc>
                  <a:txBody>
                    <a:bodyPr/>
                    <a:lstStyle/>
                    <a:p>
                      <a:pPr indent="0" lvl="0" marL="0" rtl="0" algn="l">
                        <a:spcBef>
                          <a:spcPts val="0"/>
                        </a:spcBef>
                        <a:spcAft>
                          <a:spcPts val="0"/>
                        </a:spcAft>
                        <a:buNone/>
                      </a:pPr>
                      <a:r>
                        <a:rPr lang="en" sz="1800"/>
                        <a:t>183.71</a:t>
                      </a:r>
                      <a:endParaRPr sz="1800"/>
                    </a:p>
                  </a:txBody>
                  <a:tcPr marT="91425" marB="91425" marR="91425" marL="91425"/>
                </a:tc>
                <a:tc>
                  <a:txBody>
                    <a:bodyPr/>
                    <a:lstStyle/>
                    <a:p>
                      <a:pPr indent="0" lvl="0" marL="0" rtl="0" algn="l">
                        <a:spcBef>
                          <a:spcPts val="0"/>
                        </a:spcBef>
                        <a:spcAft>
                          <a:spcPts val="0"/>
                        </a:spcAft>
                        <a:buNone/>
                      </a:pPr>
                      <a:r>
                        <a:rPr lang="en" sz="1800"/>
                        <a:t>30</a:t>
                      </a:r>
                      <a:endParaRPr sz="1800"/>
                    </a:p>
                  </a:txBody>
                  <a:tcPr marT="91425" marB="91425" marR="91425" marL="91425"/>
                </a:tc>
                <a:tc>
                  <a:txBody>
                    <a:bodyPr/>
                    <a:lstStyle/>
                    <a:p>
                      <a:pPr indent="0" lvl="0" marL="0" rtl="0" algn="l">
                        <a:spcBef>
                          <a:spcPts val="0"/>
                        </a:spcBef>
                        <a:spcAft>
                          <a:spcPts val="0"/>
                        </a:spcAft>
                        <a:buNone/>
                      </a:pPr>
                      <a:r>
                        <a:rPr lang="en" sz="1800"/>
                        <a:t>150</a:t>
                      </a:r>
                      <a:endParaRPr sz="1800"/>
                    </a:p>
                  </a:txBody>
                  <a:tcPr marT="91425" marB="91425" marR="91425" marL="91425"/>
                </a:tc>
                <a:tc>
                  <a:txBody>
                    <a:bodyPr/>
                    <a:lstStyle/>
                    <a:p>
                      <a:pPr indent="0" lvl="0" marL="0" rtl="0" algn="l">
                        <a:spcBef>
                          <a:spcPts val="0"/>
                        </a:spcBef>
                        <a:spcAft>
                          <a:spcPts val="0"/>
                        </a:spcAft>
                        <a:buNone/>
                      </a:pPr>
                      <a:r>
                        <a:rPr lang="en" sz="1800"/>
                        <a:t>333.71</a:t>
                      </a:r>
                      <a:endParaRPr sz="1800"/>
                    </a:p>
                  </a:txBody>
                  <a:tcPr marT="91425" marB="91425" marR="91425" marL="91425"/>
                </a:tc>
              </a:tr>
            </a:tbl>
          </a:graphicData>
        </a:graphic>
      </p:graphicFrame>
      <p:sp>
        <p:nvSpPr>
          <p:cNvPr id="141" name="Google Shape;141;p26"/>
          <p:cNvSpPr txBox="1"/>
          <p:nvPr/>
        </p:nvSpPr>
        <p:spPr>
          <a:xfrm>
            <a:off x="411025" y="4343650"/>
            <a:ext cx="8365200" cy="7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500">
                <a:solidFill>
                  <a:schemeClr val="dk2"/>
                </a:solidFill>
              </a:rPr>
              <a:t>Tariff cost units; five-bus totals. Same terminal energy.</a:t>
            </a:r>
            <a:endParaRPr sz="1500">
              <a:solidFill>
                <a:schemeClr val="dk2"/>
              </a:solidFill>
            </a:endParaRPr>
          </a:p>
          <a:p>
            <a:pPr indent="0" lvl="0" marL="0" rtl="0" algn="l">
              <a:spcBef>
                <a:spcPts val="0"/>
              </a:spcBef>
              <a:spcAft>
                <a:spcPts val="0"/>
              </a:spcAft>
              <a:buClr>
                <a:schemeClr val="dk1"/>
              </a:buClr>
              <a:buSzPts val="1100"/>
              <a:buFont typeface="Arial"/>
              <a:buNone/>
            </a:pPr>
            <a:r>
              <a:rPr lang="en" sz="1500">
                <a:solidFill>
                  <a:schemeClr val="dk2"/>
                </a:solidFill>
              </a:rPr>
              <a:t>Original charging windows leave no material fixed-duty saving.</a:t>
            </a:r>
            <a:endParaRPr sz="1500">
              <a:solidFill>
                <a:schemeClr val="dk2"/>
              </a:solidFill>
            </a:endParaRPr>
          </a:p>
          <a:p>
            <a:pPr indent="0" lvl="0" marL="0" rtl="0" algn="l">
              <a:spcBef>
                <a:spcPts val="0"/>
              </a:spcBef>
              <a:spcAft>
                <a:spcPts val="0"/>
              </a:spcAft>
              <a:buClr>
                <a:schemeClr val="dk1"/>
              </a:buClr>
              <a:buSzPts val="1100"/>
              <a:buFont typeface="Arial"/>
              <a:buNone/>
            </a:pPr>
            <a:r>
              <a:rPr lang="en" sz="1500">
                <a:solidFill>
                  <a:schemeClr val="dk2"/>
                </a:solidFill>
              </a:rPr>
              <a:t>New sequences: post-hoc charging optimization, not a fresh CG test.</a:t>
            </a:r>
            <a:endParaRPr sz="1500">
              <a:solidFill>
                <a:schemeClr val="dk2"/>
              </a:solidFill>
            </a:endParaRPr>
          </a:p>
          <a:p>
            <a:pPr indent="0" lvl="0" marL="0" rtl="0" algn="l">
              <a:spcBef>
                <a:spcPts val="0"/>
              </a:spcBef>
              <a:spcAft>
                <a:spcPts val="0"/>
              </a:spcAft>
              <a:buNone/>
            </a:pPr>
            <a:r>
              <a:t/>
            </a:r>
            <a:endParaRPr sz="1500">
              <a:solidFill>
                <a:schemeClr val="dk2"/>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