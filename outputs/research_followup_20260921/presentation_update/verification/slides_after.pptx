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D285A16-08EB-414C-A3FC-68C5544E96D4}">
  <a:tblStyle styleId="{CD285A16-08EB-414C-A3FC-68C5544E96D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2b08d32092d044ad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2b08d32092d044ad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Updated 21 September 2026. New audited results and sources: https://github.com/ndandnd/EVSP-DR/tree/6fcc672b16db3255ec552294ff0f34a1b5c9290e/outputs/research_followup_20260921 . Current Doc tab: https://docs.google.com/document/d/1hDSWYb2KG-8pnLFN9BdSKkbXOjhytm4bxQz_MsBw_BY/edit?tab=t.fycml6be3fks . The k8 result is four selected cases × two seeds, treatment new columns plus own start, nominal one-hour shared charged budget. Battery repair is continuous and capacity-only under historical240kW/zero-reserve assumptions. Earlier pilot remains on slide7.</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2b08d32092d044ad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h2b08d32092d044ad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outputs/week_20260921/evidence/k8_witness/. Full original Gurobi logs and SHA256 receipts are in the evidence index. LP fleet is fractional route weight; pricing-certified weighted-objective endpoint. Pool MIP: numerical optimality within a fixed finite column pool only. Adding witness routes is a diagnostic and uses known sequential solutions; it is not the autonomous diving algorithm. Four cases C1/C3/C4/C5.</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h2b08d32092d044ad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h2b08d32092d044ad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C1 fleet proof, lines 155–156:</a:t>
            </a:r>
            <a:endParaRPr/>
          </a:p>
          <a:p>
            <a:pPr indent="0" lvl="0" marL="0" rtl="0" algn="l">
              <a:spcBef>
                <a:spcPts val="0"/>
              </a:spcBef>
              <a:spcAft>
                <a:spcPts val="0"/>
              </a:spcAft>
              <a:buClr>
                <a:schemeClr val="dk1"/>
              </a:buClr>
              <a:buSzPts val="1100"/>
              <a:buFont typeface="Arial"/>
              <a:buNone/>
            </a:pPr>
            <a:r>
              <a:rPr lang="en"/>
              <a:t>https://github.com/ndandnd/EVSP-DR/blob/ca1dda82247db995ffd0d524e045430ea197ec13/outputs/week_20260921/evidence/k8_witness/c1_k08/control/391804_r0/gurobi.log#L155</a:t>
            </a:r>
            <a:endParaRPr/>
          </a:p>
          <a:p>
            <a:pPr indent="0" lvl="0" marL="0" rtl="0" algn="l">
              <a:spcBef>
                <a:spcPts val="0"/>
              </a:spcBef>
              <a:spcAft>
                <a:spcPts val="0"/>
              </a:spcAft>
              <a:buClr>
                <a:schemeClr val="dk1"/>
              </a:buClr>
              <a:buSzPts val="1100"/>
              <a:buFont typeface="Arial"/>
              <a:buNone/>
            </a:pPr>
            <a:r>
              <a:rPr lang="en"/>
              <a:t>After adding eight sequential routes, line 112:</a:t>
            </a:r>
            <a:endParaRPr/>
          </a:p>
          <a:p>
            <a:pPr indent="0" lvl="0" marL="0" rtl="0" algn="l">
              <a:spcBef>
                <a:spcPts val="0"/>
              </a:spcBef>
              <a:spcAft>
                <a:spcPts val="0"/>
              </a:spcAft>
              <a:buClr>
                <a:schemeClr val="dk1"/>
              </a:buClr>
              <a:buSzPts val="1100"/>
              <a:buFont typeface="Arial"/>
              <a:buNone/>
            </a:pPr>
            <a:r>
              <a:rPr lang="en"/>
              <a:t>https://github.com/ndandnd/EVSP-DR/blob/ca1dda82247db995ffd0d524e045430ea197ec13/outputs/week_20260921/evidence/k8_witness/c1_k08/augmented/391805_r0/gurobi.log#L112</a:t>
            </a:r>
            <a:endParaRPr/>
          </a:p>
          <a:p>
            <a:pPr indent="0" lvl="0" marL="0" rtl="0" algn="l">
              <a:spcBef>
                <a:spcPts val="0"/>
              </a:spcBef>
              <a:spcAft>
                <a:spcPts val="0"/>
              </a:spcAft>
              <a:buClr>
                <a:schemeClr val="dk1"/>
              </a:buClr>
              <a:buSzPts val="1100"/>
              <a:buFont typeface="Arial"/>
              <a:buNone/>
            </a:pPr>
            <a:r>
              <a:rPr lang="en"/>
              <a:t>Local root: /Users/nadan/Documents/projects/demandresponse/outputs/week_20260921/evidence/</a:t>
            </a:r>
            <a:endParaRPr/>
          </a:p>
          <a:p>
            <a:pPr indent="0" lvl="0" marL="0" rtl="0" algn="l">
              <a:spcBef>
                <a:spcPts val="0"/>
              </a:spcBef>
              <a:spcAft>
                <a:spcPts val="0"/>
              </a:spcAft>
              <a:buClr>
                <a:schemeClr val="dk1"/>
              </a:buClr>
              <a:buSzPts val="1100"/>
              <a:buFont typeface="Arial"/>
              <a:buNone/>
            </a:pPr>
            <a:r>
              <a:rPr lang="en"/>
              <a:t>Model size: line 19; unit bus costs: line 24; root relaxation eight: line 53. Objective nine and bound nine prove the fixed-pool fleet optimum to Gurobi's numerical tolerance. The later charging-stage gap does not invalidate this proof. Full-model minimum nine is not claimed.</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h2b08d32092d044ad_2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h2b08d32092d044ad_2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Evidence: outputs/week_20260921/evidence/witness_analysis.json and forthcoming WHY audit. Distinguish explanation from universal claim: positive reduced cost is relative to a particular LP dual. It does not prove all pricing/enrichment algorithms miss the route. Historical witness injection established missing compatible columns; autonomous diving tests whether altered duals can find them without importing a known solution.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h2b08d32092d044ad_2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h2b08d32092d044ad_2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Illustrative set-covering example, not a GIRO instance. Dual trip prices50 for all6trips certify old and enlarged LP optimum300. New AD reducedcost+1. Original two disjoint triangles require2integer edges each; addingAD yields3edge perfectmatching. Proof demonstrates compatibility mechanism; not evidence that actual route structure is literally triangles.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8ecbc5488_6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8ecbc5488_6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Sources: outputs/week_20260921/evidence/pilot_summary.csv and c1_followup_summary.csv. This is autonomous pricing, separate from adding known sequential witnesses. Original pilot stays3/4. C1 followup628441 has63561unique routes,8 duplicate model columns introduced by generic MIP-start path, no new distinct routes. Same source hashes. Controls use saved pools. Full Gurobi log at evidence/c1_followup/628441_r0/gurobi.log.</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8ecbc5488_6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f8ecbc5488_6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All 12 fleet searches ran to the 12-hour limit. Every bound is 15; none proves that 15 is impossible. All subsequent charging stages have also finished at their time limit.</a:t>
            </a:r>
            <a:endParaRPr/>
          </a:p>
          <a:p>
            <a:pPr indent="0" lvl="0" marL="0" rtl="0" algn="l">
              <a:spcBef>
                <a:spcPts val="0"/>
              </a:spcBef>
              <a:spcAft>
                <a:spcPts val="0"/>
              </a:spcAft>
              <a:buClr>
                <a:schemeClr val="dk1"/>
              </a:buClr>
              <a:buSzPts val="1100"/>
              <a:buFont typeface="Arial"/>
              <a:buNone/>
            </a:pPr>
            <a:r>
              <a:rPr lang="en"/>
              <a:t>Exact results and paths to all logs:</a:t>
            </a:r>
            <a:endParaRPr/>
          </a:p>
          <a:p>
            <a:pPr indent="0" lvl="0" marL="0" rtl="0" algn="l">
              <a:spcBef>
                <a:spcPts val="0"/>
              </a:spcBef>
              <a:spcAft>
                <a:spcPts val="0"/>
              </a:spcAft>
              <a:buClr>
                <a:schemeClr val="dk1"/>
              </a:buClr>
              <a:buSzPts val="1100"/>
              <a:buFont typeface="Arial"/>
              <a:buNone/>
            </a:pPr>
            <a:r>
              <a:rPr lang="en"/>
              <a:t>https://github.com/ndandnd/EVSP-DR/blob/ca1dda82247db995ffd0d524e045430ea197ec13/outputs/week_20260921/evidence/k15_12h_summary.csv</a:t>
            </a:r>
            <a:endParaRPr/>
          </a:p>
          <a:p>
            <a:pPr indent="0" lvl="0" marL="0" rtl="0" algn="l">
              <a:spcBef>
                <a:spcPts val="0"/>
              </a:spcBef>
              <a:spcAft>
                <a:spcPts val="0"/>
              </a:spcAft>
              <a:buClr>
                <a:schemeClr val="dk1"/>
              </a:buClr>
              <a:buSzPts val="1100"/>
              <a:buFont typeface="Arial"/>
              <a:buNone/>
            </a:pPr>
            <a:r>
              <a:rPr lang="en"/>
              <a:t>Local log folder: /Users/nadan/Documents/projects/demandresponse/outputs/week_20260921/evidence/k15_12h/</a:t>
            </a:r>
            <a:endParaRPr/>
          </a:p>
          <a:p>
            <a:pPr indent="0" lvl="0" marL="0" rtl="0" algn="l">
              <a:spcBef>
                <a:spcPts val="0"/>
              </a:spcBef>
              <a:spcAft>
                <a:spcPts val="0"/>
              </a:spcAft>
              <a:buClr>
                <a:schemeClr val="dk1"/>
              </a:buClr>
              <a:buSzPts val="1100"/>
              <a:buFont typeface="Arial"/>
              <a:buNone/>
            </a:pPr>
            <a:r>
              <a:rPr lang="en"/>
              <a:t>Plain and heuristic-focused arms use the same saved CG pool per chain. They change MIP search settings, not physics. These pools do not enforce shared charging capacity. The incumbents pass physical route replay; duplicate-service cleanup remains separate.</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8ecbc5488_6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8ecbc5488_6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Sources: outputs/week_20260921/capacity_strict/capacity_summary.csv and capacity_on_off.png. Matched shortcut on/off physics; 4hourCG budgets. k1on certified26.87min, other5notcertified. All resulting fleetMIPs optimal only in saved pools; k1 1→1, k2 3→2, k3 21→5. k3on has6duplicates, not dispatchcleaned. Capacity feasibility separatelychecked.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f8ecbc5488_6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f8ecbc5488_6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Report: outputs/week_20260921/capacity_strict/README.md. Commit35770aae2c08e7d5a356cc3b673e67608e5b1036. Newcampaignstrict_packed_20260921:646674audit,646675k16CG,646676MIP. Packedrepresentationonlyforstrictno-capacityarm; do notconflatewithcapacityshortcut. MaxRSSk15=153.8GiB,k16=211.9GiB. Originalblockeddescendantspreservedonexplicitannotatedholds, historical537227untouched.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f8ecbc5488_6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f8ecbc5488_6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outputs/week_20260921/cleanup_physics/README.md. Thiscleanupresultusesitsrecordedconstant-powerphysics, notthelaternonlinearmatchedGIROreopt. Existingimplementation663ece9c plusnewopt-inrunnercodex/week-cleanup-20260921. Validatedfallbackretainstraversal; optionalshorteningreplayed. Approximatebounded120sMIP, gap0.0253%; notglobaloptimizationoverallroutings. Remove duplicatedtripservice, notentirebusroutes.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8ecbc5488_6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f8ecbc5488_6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outputs/week_20260921/cleanup_physics/one_bus_k5_joint_matched.png andjoint_validation.json. GIRO original duty13414versus maximumoverlap savedCGfee0andsavedpoolfee5buses. Fullfleetall3are5buses/62trips; savedsequencesexactonce. 236.44kWh,15%reserve,PARX60kW,documentedtaper,3minutecharges,.1kWidle,group/sites,onechargerat2190L/4808,perbusterminalfloorsmatchedoriginal. This is posthoc chargingoptimizationofsavedtripsequences, notfreshfullCGundernewphysics. StaticDHDandplatformFIFO/crewnotvalidated. See nextslideforcostscope.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f8ecbc5488_6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f8ecbc5488_6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Figureandwholefleetmetrics: outputs/week_20260921/cleanup_physics/joint_figure_metrics.json, joint_validation.json, README.md. Baselinefee5total230.6447876705+5×52=490.6447876705. Synthetic08peak tariffunitsnotcurrencyclaim. Endenergytotal250.7183243524kWhallarmswithbijectivemaxoverlapmatching. Fee0GurobistatusOPTIMALwithin1e-4(gap0.00565%);fee5120stimelimitgap0.6504%. Limits: staticreferenceDHD, platform/FIFO/crewunvalidated; capacitiesonlyfivebuscohort,nobackground35buses. Originalfixed-windowchargingreoptremains230.645and52startswithbothfees. This is not proof of optimal GIRO duty charging over all possible windows/sites.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8ecbc5488_6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f8ecbc5488_6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Sources: outputs/week_20260921/cleanup_physics/joint_figure_metrics.json and joint_validation.json. Allcostsaregenerictariffcostunits,08peaktariff. Baseline230.6447876705/52starts; fee0electricity158.7068197/42starts;fee5electricity183.714825+150fees. Originalfixed-windowreoptcouldnotmateriallyreducecost. Newtripsequencesareposthocoptimizedwithsamephysics, capacitychecked5buscohort, staticdeadheadapproximation. Fee0gap0.00565%,fee5gap0.6504%.</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8ecbc5488_6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f8ecbc5488_6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Sources pinned at commit 6fcc672b16db3255ec552294ff0f34a1b5c9290e:</a:t>
            </a:r>
            <a:endParaRPr/>
          </a:p>
          <a:p>
            <a:pPr indent="0" lvl="0" marL="0" rtl="0" algn="l">
              <a:spcBef>
                <a:spcPts val="0"/>
              </a:spcBef>
              <a:spcAft>
                <a:spcPts val="0"/>
              </a:spcAft>
              <a:buClr>
                <a:schemeClr val="dk1"/>
              </a:buClr>
              <a:buSzPts val="1100"/>
              <a:buFont typeface="Arial"/>
              <a:buNone/>
            </a:pPr>
            <a:r>
              <a:rPr lang="en"/>
              <a:t>https://github.com/ndandnd/EVSP-DR/tree/6fcc672b16db3255ec552294ff0f34a1b5c9290e/outputs/research_followup_20260921/chain_comparison_mip_times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48 optimizer endpoints form 24 fresh/sequential pairs at k = 5, 8, 10, 15. Cumulative CG excludes graph construction, all earlier MIPs and queue time. MIP panels show only the final k. Stage times measure optimize calls, not first-incumbent timestamps. Pricing tolerance: 0.0001. Historical physics: 240 kWh / 240 kW, zero reserve, no shared capacity, flat tariff, start fee 5 and covering. Exact CSVs, statuses, source paths and plotting code are linked.</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8ecbc5488_6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f8ecbc5488_6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Sources pinned at commit 6fcc672b16db3255ec552294ff0f34a1b5c9290e:</a:t>
            </a:r>
            <a:endParaRPr/>
          </a:p>
          <a:p>
            <a:pPr indent="0" lvl="0" marL="0" rtl="0" algn="l">
              <a:spcBef>
                <a:spcPts val="0"/>
              </a:spcBef>
              <a:spcAft>
                <a:spcPts val="0"/>
              </a:spcAft>
              <a:buClr>
                <a:schemeClr val="dk1"/>
              </a:buClr>
              <a:buSzPts val="1100"/>
              <a:buFont typeface="Arial"/>
              <a:buNone/>
            </a:pPr>
            <a:r>
              <a:rPr lang="en"/>
              <a:t>https://github.com/ndandnd/EVSP-DR/tree/6fcc672b16db3255ec552294ff0f34a1b5c9290e/outputs/research_followup_20260921/chain_comparison_mip_times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48 optimizer endpoints form 24 fresh/sequential pairs at k = 5, 8, 10, 15. Cumulative CG excludes graph construction, all earlier MIPs and queue time. MIP panels show only the final k. Stage times measure optimize calls, not first-incumbent timestamps. Pricing tolerance: 0.0001. Historical physics: 240 kWh / 240 kW, zero reserve, no shared capacity, flat tariff, start fee 5 and covering. Exact CSVs, statuses, source paths and plotting code are linked.</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8ecbc5488_6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f8ecbc5488_6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Sources pinned at commit 6fcc672b16db3255ec552294ff0f34a1b5c9290e:</a:t>
            </a:r>
            <a:endParaRPr/>
          </a:p>
          <a:p>
            <a:pPr indent="0" lvl="0" marL="0" rtl="0" algn="l">
              <a:spcBef>
                <a:spcPts val="0"/>
              </a:spcBef>
              <a:spcAft>
                <a:spcPts val="0"/>
              </a:spcAft>
              <a:buClr>
                <a:schemeClr val="dk1"/>
              </a:buClr>
              <a:buSzPts val="1100"/>
              <a:buFont typeface="Arial"/>
              <a:buNone/>
            </a:pPr>
            <a:r>
              <a:rPr lang="en"/>
              <a:t>https://github.com/ndandnd/EVSP-DR/tree/6fcc672b16db3255ec552294ff0f34a1b5c9290e/outputs/research_followup_20260921/chain_comparison_mip_times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48 optimizer endpoints form 24 fresh/sequential pairs at k = 5, 8, 10, 15. Cumulative CG excludes graph construction, all earlier MIPs and queue time. MIP panels show only the final k. Stage times measure optimize calls, not first-incumbent timestamps. Pricing tolerance: 0.0001. Historical physics: 240 kWh / 240 kW, zero reserve, no shared capacity, flat tariff, start fee 5 and covering. Exact CSVs, statuses, source paths and plotting code are linked.</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8ecbc5488_6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8ecbc5488_6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Sources pinned at commit 6fcc672b16db3255ec552294ff0f34a1b5c9290e:</a:t>
            </a:r>
            <a:endParaRPr/>
          </a:p>
          <a:p>
            <a:pPr indent="0" lvl="0" marL="0" rtl="0" algn="l">
              <a:spcBef>
                <a:spcPts val="0"/>
              </a:spcBef>
              <a:spcAft>
                <a:spcPts val="0"/>
              </a:spcAft>
              <a:buClr>
                <a:schemeClr val="dk1"/>
              </a:buClr>
              <a:buSzPts val="1100"/>
              <a:buFont typeface="Arial"/>
              <a:buNone/>
            </a:pPr>
            <a:r>
              <a:rPr lang="en"/>
              <a:t>https://github.com/ndandnd/EVSP-DR/tree/6fcc672b16db3255ec552294ff0f34a1b5c9290e/outputs/research_followup_20260921/chain_comparison_mip_times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48 optimizer endpoints form 24 fresh/sequential pairs at k = 5, 8, 10, 15. Cumulative CG excludes graph construction, all earlier MIPs and queue time. MIP panels show only the final k. Stage times measure optimize calls, not first-incumbent timestamps. Pricing tolerance: 0.0001. Historical physics: 240 kWh / 240 kW, zero reserve, no shared capacity, flat tariff, start fee 5 and covering. Exact CSVs, statuses, source paths and plotting code are linked.</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8ecbc5488_6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f8ecbc5488_6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Sources pinned at commit 6fcc672b16db3255ec552294ff0f34a1b5c9290e:</a:t>
            </a:r>
            <a:endParaRPr/>
          </a:p>
          <a:p>
            <a:pPr indent="0" lvl="0" marL="0" rtl="0" algn="l">
              <a:spcBef>
                <a:spcPts val="0"/>
              </a:spcBef>
              <a:spcAft>
                <a:spcPts val="0"/>
              </a:spcAft>
              <a:buClr>
                <a:schemeClr val="dk1"/>
              </a:buClr>
              <a:buSzPts val="1100"/>
              <a:buFont typeface="Arial"/>
              <a:buNone/>
            </a:pPr>
            <a:r>
              <a:rPr lang="en"/>
              <a:t>https://github.com/ndandnd/EVSP-DR/tree/6fcc672b16db3255ec552294ff0f34a1b5c9290e/outputs/research_followup_20260921/chain_comparison_mip_times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48 optimizer endpoints form 24 fresh/sequential pairs at k = 5, 8, 10, 15. Cumulative CG excludes graph construction, all earlier MIPs and queue time. MIP panels show only the final k. Stage times measure optimize calls, not first-incumbent timestamps. Pricing tolerance: 0.0001. Historical physics: 240 kWh / 240 kW, zero reserve, no shared capacity, flat tariff, start fee 5 and covering. Exact CSVs, statuses, source paths and plotting code are linked.</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8ecbc5488_6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f8ecbc5488_6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Sources pinned at commit 6fcc672b16db3255ec552294ff0f34a1b5c9290e:</a:t>
            </a:r>
            <a:endParaRPr/>
          </a:p>
          <a:p>
            <a:pPr indent="0" lvl="0" marL="0" rtl="0" algn="l">
              <a:spcBef>
                <a:spcPts val="0"/>
              </a:spcBef>
              <a:spcAft>
                <a:spcPts val="0"/>
              </a:spcAft>
              <a:buClr>
                <a:schemeClr val="dk1"/>
              </a:buClr>
              <a:buSzPts val="1100"/>
              <a:buFont typeface="Arial"/>
              <a:buNone/>
            </a:pPr>
            <a:r>
              <a:rPr lang="en"/>
              <a:t>https://github.com/ndandnd/EVSP-DR/tree/6fcc672b16db3255ec552294ff0f34a1b5c9290e/outputs/research_followup_20260921/chain_comparison_mip_times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48 optimizer endpoints form 24 fresh/sequential pairs at k = 5, 8, 10, 15. Cumulative CG excludes graph construction, all earlier MIPs and queue time. MIP panels show only the final k. Stage times measure optimize calls, not first-incumbent timestamps. Pricing tolerance: 0.0001. Historical physics: 240 kWh / 240 kW, zero reserve, no shared capacity, flat tariff, start fee 5 and covering. Exact CSVs, statuses, source paths and plotting code are linked.</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8ecbc5488_6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f8ecbc5488_6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Sources pinned at commit 6fcc672b16db3255ec552294ff0f34a1b5c9290e:</a:t>
            </a:r>
            <a:endParaRPr/>
          </a:p>
          <a:p>
            <a:pPr indent="0" lvl="0" marL="0" rtl="0" algn="l">
              <a:spcBef>
                <a:spcPts val="0"/>
              </a:spcBef>
              <a:spcAft>
                <a:spcPts val="0"/>
              </a:spcAft>
              <a:buClr>
                <a:schemeClr val="dk1"/>
              </a:buClr>
              <a:buSzPts val="1100"/>
              <a:buFont typeface="Arial"/>
              <a:buNone/>
            </a:pPr>
            <a:r>
              <a:rPr lang="en"/>
              <a:t>https://github.com/ndandnd/EVSP-DR/tree/6fcc672b16db3255ec552294ff0f34a1b5c9290e/outputs/research_followup_20260921/chain_comparison_mip_times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48 optimizer endpoints form 24 fresh/sequential pairs at k = 5, 8, 10, 15. Cumulative CG excludes graph construction, all earlier MIPs and queue time. MIP panels show only the final k. Stage times measure optimize calls, not first-incumbent timestamps. Pricing tolerance: 0.0001. Historical physics: 240 kWh / 240 kW, zero reserve, no shared capacity, flat tariff, start fee 5 and covering. Exact CSVs, statuses, source paths and plotting code are linked.</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bd02b91a9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fbd02b91a9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Sources pinned at commit 6fcc672b16db3255ec552294ff0f34a1b5c9290e:</a:t>
            </a:r>
            <a:endParaRPr/>
          </a:p>
          <a:p>
            <a:pPr indent="0" lvl="0" marL="0" rtl="0" algn="l">
              <a:spcBef>
                <a:spcPts val="0"/>
              </a:spcBef>
              <a:spcAft>
                <a:spcPts val="0"/>
              </a:spcAft>
              <a:buClr>
                <a:schemeClr val="dk1"/>
              </a:buClr>
              <a:buSzPts val="1100"/>
              <a:buFont typeface="Arial"/>
              <a:buNone/>
            </a:pPr>
            <a:r>
              <a:rPr lang="en"/>
              <a:t>https://github.com/ndandnd/EVSP-DR/tree/6fcc672b16db3255ec552294ff0f34a1b5c9290e/outputs/research_followup_20260921/chain_comparison_mip_times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48 optimizer endpoints form 24 fresh/sequential pairs at k = 5, 8, 10, 15. Cumulative CG excludes graph construction, all earlier MIPs and queue time. MIP panels show only the final k. Stage times measure optimize calls, not first-incumbent timestamps. Pricing tolerance: 0.0001. Historical physics: 240 kWh / 240 kW, zero reserve, no shared capacity, flat tariff, start fee 5 and covering. Exact CSVs, statuses, source paths and plotting code are linked.</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bd02b91a9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fbd02b91a9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Sources pinned at commit 6fcc672b16db3255ec552294ff0f34a1b5c9290e:</a:t>
            </a:r>
            <a:endParaRPr/>
          </a:p>
          <a:p>
            <a:pPr indent="0" lvl="0" marL="0" rtl="0" algn="l">
              <a:spcBef>
                <a:spcPts val="0"/>
              </a:spcBef>
              <a:spcAft>
                <a:spcPts val="0"/>
              </a:spcAft>
              <a:buClr>
                <a:schemeClr val="dk1"/>
              </a:buClr>
              <a:buSzPts val="1100"/>
              <a:buFont typeface="Arial"/>
              <a:buNone/>
            </a:pPr>
            <a:r>
              <a:rPr lang="en"/>
              <a:t>https://github.com/ndandnd/EVSP-DR/tree/6fcc672b16db3255ec552294ff0f34a1b5c9290e/outputs/research_followup_20260921/battery_repair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487 route occurrences represent 463 distinct schedules. The 195 failed occurrences contain 180 distinct schedules. 194 repairs fit their original intervals; one extends by 0.1499625 seconds. All 48 fleets pass individual route-time and energy replay. Charging power is bounded by 240 kW, with zero reserve and no terminal floor or shared capacity. These continuous witnesses do not inherit the event-grid certificates. A second reviewer independently confirmed replay. The repair minimizes absolute charging-energy changes, not charging cost.</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bd02b91a9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fbd02b91a9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Sources pinned at commit 6fcc672b16db3255ec552294ff0f34a1b5c9290e:</a:t>
            </a:r>
            <a:endParaRPr/>
          </a:p>
          <a:p>
            <a:pPr indent="0" lvl="0" marL="0" rtl="0" algn="l">
              <a:spcBef>
                <a:spcPts val="0"/>
              </a:spcBef>
              <a:spcAft>
                <a:spcPts val="0"/>
              </a:spcAft>
              <a:buClr>
                <a:schemeClr val="dk1"/>
              </a:buClr>
              <a:buSzPts val="1100"/>
              <a:buFont typeface="Arial"/>
              <a:buNone/>
            </a:pPr>
            <a:r>
              <a:rPr lang="en"/>
              <a:t>https://github.com/ndandnd/EVSP-DR/tree/6fcc672b16db3255ec552294ff0f34a1b5c9290e/outputs/research_followup_20260921/integer_pricing_explanation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Four selected cases (C1, C3, C4, C5), each with two paired seeds: 7/8 treatment hits versus 0/8 controls. Target K = 8 is supplied; no sequential or GIRO witness routes enter the treatment. New columns and the self-discovered incumbent start are tested together, without a separate ablation. All seven hits prove eight in their finite pools. Five controls prove nine. The treatment miss remains nine with bound eight. Nominal charged budget is 3,600 seconds of dive wall time plus MIP solver time, with MIP setup additional. Termination overruns are 0.68–4.70 seconds. Six hits retain duplicate service; shared capacity is absent. proof_links.md indexes the Gurobi logs. method_and_math.md gives the residual dual including fleet-cap price μ.</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fbd02b91a9_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fbd02b91a9_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Sources pinned at commit 6fcc672b16db3255ec552294ff0f34a1b5c9290e:</a:t>
            </a:r>
            <a:endParaRPr/>
          </a:p>
          <a:p>
            <a:pPr indent="0" lvl="0" marL="0" rtl="0" algn="l">
              <a:spcBef>
                <a:spcPts val="0"/>
              </a:spcBef>
              <a:spcAft>
                <a:spcPts val="0"/>
              </a:spcAft>
              <a:buClr>
                <a:schemeClr val="dk1"/>
              </a:buClr>
              <a:buSzPts val="1100"/>
              <a:buFont typeface="Arial"/>
              <a:buNone/>
            </a:pPr>
            <a:r>
              <a:rPr lang="en"/>
              <a:t>https://github.com/ndandnd/EVSP-DR/tree/6fcc672b16db3255ec552294ff0f34a1b5c9290e/outputs/research_followup_20260921/integer_pricing_explanation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Four selected cases (C1, C3, C4, C5), each with two paired seeds: 7/8 treatment hits versus 0/8 controls. Target K = 8 is supplied; no sequential or GIRO witness routes enter the treatment. New columns and the self-discovered incumbent start are tested together, without a separate ablation. All seven hits prove eight in their finite pools. Five controls prove nine. The treatment miss remains nine with bound eight. Nominal charged budget is 3,600 seconds of dive wall time plus MIP solver time, with MIP setup additional. Termination overruns are 0.68–4.70 seconds. Six hits retain duplicate service; shared capacity is absent. proof_links.md indexes the Gurobi logs. method_and_math.md gives the residual dual including fleet-cap price μ.</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fbd02b91a9_2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fbd02b91a9_2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Sources pinned at commit 6fcc672b16db3255ec552294ff0f34a1b5c9290e:</a:t>
            </a:r>
            <a:endParaRPr/>
          </a:p>
          <a:p>
            <a:pPr indent="0" lvl="0" marL="0" rtl="0" algn="l">
              <a:spcBef>
                <a:spcPts val="0"/>
              </a:spcBef>
              <a:spcAft>
                <a:spcPts val="0"/>
              </a:spcAft>
              <a:buClr>
                <a:schemeClr val="dk1"/>
              </a:buClr>
              <a:buSzPts val="1100"/>
              <a:buFont typeface="Arial"/>
              <a:buNone/>
            </a:pPr>
            <a:r>
              <a:rPr lang="en"/>
              <a:t>https://github.com/ndandnd/EVSP-DR/tree/6fcc672b16db3255ec552294ff0f34a1b5c9290e/outputs/research_followup_20260921/integer_pricing_explanation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Four selected cases (C1, C3, C4, C5), each with two paired seeds: 7/8 treatment hits versus 0/8 controls. Target K = 8 is supplied; no sequential or GIRO witness routes enter the treatment. New columns and the self-discovered incumbent start are tested together, without a separate ablation. All seven hits prove eight in their finite pools. Five controls prove nine. The treatment miss remains nine with bound eight. Nominal charged budget is 3,600 seconds of dive wall time plus MIP solver time, with MIP setup additional. Termination overruns are 0.68–4.70 seconds. Six hits retain duplicate service; shared capacity is absent. proof_links.md indexes the Gurobi logs. method_and_math.md gives the residual dual including fleet-cap price μ.</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fbd02b91a9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fbd02b91a9_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Sources pinned at commit 6fcc672b16db3255ec552294ff0f34a1b5c9290e:</a:t>
            </a:r>
            <a:endParaRPr/>
          </a:p>
          <a:p>
            <a:pPr indent="0" lvl="0" marL="0" rtl="0" algn="l">
              <a:spcBef>
                <a:spcPts val="0"/>
              </a:spcBef>
              <a:spcAft>
                <a:spcPts val="0"/>
              </a:spcAft>
              <a:buClr>
                <a:schemeClr val="dk1"/>
              </a:buClr>
              <a:buSzPts val="1100"/>
              <a:buFont typeface="Arial"/>
              <a:buNone/>
            </a:pPr>
            <a:r>
              <a:rPr lang="en"/>
              <a:t>https://github.com/ndandnd/EVSP-DR/tree/6fcc672b16db3255ec552294ff0f34a1b5c9290e/outputs/research_followup_20260921/integer_pricing_explanation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Four selected cases (C1, C3, C4, C5), each with two paired seeds: 7/8 treatment hits versus 0/8 controls. Target K = 8 is supplied; no sequential or GIRO witness routes enter the treatment. New columns and the self-discovered incumbent start are tested together, without a separate ablation. All seven hits prove eight in their finite pools. Five controls prove nine. The treatment miss remains nine with bound eight. Nominal charged budget is 3,600 seconds of dive wall time plus MIP solver time, with MIP setup additional. Termination overruns are 0.68–4.70 seconds. Six hits retain duplicate service; shared capacity is absent. proof_links.md indexes the Gurobi logs. method_and_math.md gives the residual dual including fleet-cap price μ.</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fbd02b91a9_2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fbd02b91a9_2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Sources pinned at commit 6fcc672b16db3255ec552294ff0f34a1b5c9290e:</a:t>
            </a:r>
            <a:endParaRPr/>
          </a:p>
          <a:p>
            <a:pPr indent="0" lvl="0" marL="0" rtl="0" algn="l">
              <a:spcBef>
                <a:spcPts val="0"/>
              </a:spcBef>
              <a:spcAft>
                <a:spcPts val="0"/>
              </a:spcAft>
              <a:buClr>
                <a:schemeClr val="dk1"/>
              </a:buClr>
              <a:buSzPts val="1100"/>
              <a:buFont typeface="Arial"/>
              <a:buNone/>
            </a:pPr>
            <a:r>
              <a:rPr lang="en"/>
              <a:t>https://github.com/ndandnd/EVSP-DR/tree/6fcc672b16db3255ec552294ff0f34a1b5c9290e/outputs/research_followup_20260921/integer_pricing_explanation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Four selected cases (C1, C3, C4, C5), each with two paired seeds: 7/8 treatment hits versus 0/8 controls. Target K = 8 is supplied; no sequential or GIRO witness routes enter the treatment. New columns and the self-discovered incumbent start are tested together, without a separate ablation. All seven hits prove eight in their finite pools. Five controls prove nine. The treatment miss remains nine with bound eight. Nominal charged budget is 3,600 seconds of dive wall time plus MIP solver time, with MIP setup additional. Termination overruns are 0.68–4.70 seconds. Six hits retain duplicate service; shared capacity is absent. proof_links.md indexes the Gurobi logs. method_and_math.md gives the residual dual including fleet-cap price μ.</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Clr>
                <a:schemeClr val="dk1"/>
              </a:buClr>
              <a:buSzPts val="990"/>
              <a:buFont typeface="Arial"/>
              <a:buNone/>
            </a:pPr>
            <a:r>
              <a:rPr lang="en"/>
              <a:t>EVSP–DR</a:t>
            </a:r>
            <a:endParaRPr/>
          </a:p>
          <a:p>
            <a:pPr indent="0" lvl="0" marL="0" rtl="0" algn="ctr">
              <a:spcBef>
                <a:spcPts val="0"/>
              </a:spcBef>
              <a:spcAft>
                <a:spcPts val="0"/>
              </a:spcAft>
              <a:buClr>
                <a:schemeClr val="dk1"/>
              </a:buClr>
              <a:buSzPts val="990"/>
              <a:buFont typeface="Arial"/>
              <a:buNone/>
            </a:pPr>
            <a:r>
              <a:rPr lang="en"/>
              <a:t>Research update</a:t>
            </a:r>
            <a:endParaRPr/>
          </a:p>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55000" lnSpcReduction="20000"/>
          </a:bodyPr>
          <a:lstStyle/>
          <a:p>
            <a:pPr indent="0" lvl="0" marL="0" rtl="0" algn="ctr">
              <a:spcBef>
                <a:spcPts val="0"/>
              </a:spcBef>
              <a:spcAft>
                <a:spcPts val="0"/>
              </a:spcAft>
              <a:buClr>
                <a:schemeClr val="dk1"/>
              </a:buClr>
              <a:buSzPct val="39286"/>
              <a:buFont typeface="Arial"/>
              <a:buNone/>
            </a:pPr>
            <a:r>
              <a:rPr lang="en"/>
              <a:t>Week of 21 September 2026</a:t>
            </a:r>
            <a:endParaRPr/>
          </a:p>
          <a:p>
            <a:pPr indent="0" lvl="0" marL="0" rtl="0" algn="ctr">
              <a:spcBef>
                <a:spcPts val="0"/>
              </a:spcBef>
              <a:spcAft>
                <a:spcPts val="0"/>
              </a:spcAft>
              <a:buClr>
                <a:schemeClr val="dk1"/>
              </a:buClr>
              <a:buSzPct val="39286"/>
              <a:buFont typeface="Arial"/>
              <a:buNone/>
            </a:pPr>
            <a:r>
              <a:rPr lang="en"/>
              <a:t>Integer routes, charging constraints, and next tests</a:t>
            </a:r>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changed this week</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t>All six chains now have paired CG, integer and MIP-time figures.</a:t>
            </a:r>
            <a:endParaRPr sz="2000"/>
          </a:p>
          <a:p>
            <a:pPr indent="0" lvl="0" marL="0" rtl="0" algn="l">
              <a:spcBef>
                <a:spcPts val="1200"/>
              </a:spcBef>
              <a:spcAft>
                <a:spcPts val="0"/>
              </a:spcAft>
              <a:buClr>
                <a:schemeClr val="dk1"/>
              </a:buClr>
              <a:buSzPts val="1100"/>
              <a:buFont typeface="Arial"/>
              <a:buNone/>
            </a:pPr>
            <a:r>
              <a:rPr lang="en" sz="2000"/>
              <a:t>Their LPs agree; sequential pools give much better integer fleets.</a:t>
            </a:r>
            <a:endParaRPr sz="2000"/>
          </a:p>
          <a:p>
            <a:pPr indent="0" lvl="0" marL="0" rtl="0" algn="l">
              <a:spcBef>
                <a:spcPts val="1200"/>
              </a:spcBef>
              <a:spcAft>
                <a:spcPts val="0"/>
              </a:spcAft>
              <a:buClr>
                <a:schemeClr val="dk1"/>
              </a:buClr>
              <a:buSzPts val="1100"/>
              <a:buFont typeface="Arial"/>
              <a:buNone/>
            </a:pPr>
            <a:r>
              <a:rPr lang="en" sz="2000"/>
              <a:t>New paired pricing test: eight buses in 7/8 runs, controls 0/8.</a:t>
            </a:r>
            <a:endParaRPr sz="2000"/>
          </a:p>
          <a:p>
            <a:pPr indent="0" lvl="0" marL="0" rtl="0" algn="l">
              <a:spcBef>
                <a:spcPts val="1200"/>
              </a:spcBef>
              <a:spcAft>
                <a:spcPts val="0"/>
              </a:spcAft>
              <a:buClr>
                <a:schemeClr val="dk1"/>
              </a:buClr>
              <a:buSzPts val="1100"/>
              <a:buFont typeface="Arial"/>
              <a:buNone/>
            </a:pPr>
            <a:r>
              <a:rPr lang="en" sz="2000"/>
              <a:t>All 195 smaller-battery failures repair without changing trips.</a:t>
            </a:r>
            <a:endParaRPr sz="2000"/>
          </a:p>
          <a:p>
            <a:pPr indent="0" lvl="0" marL="0" rtl="0" algn="l">
              <a:spcBef>
                <a:spcPts val="1200"/>
              </a:spcBef>
              <a:spcAft>
                <a:spcPts val="0"/>
              </a:spcAft>
              <a:buClr>
                <a:schemeClr val="dk1"/>
              </a:buClr>
              <a:buSzPts val="1100"/>
              <a:buFont typeface="Arial"/>
              <a:buNone/>
            </a:pPr>
            <a:r>
              <a:rPr lang="en" sz="2000"/>
              <a:t>New figures and code-backed explanations follow on slides 15–28.</a:t>
            </a:r>
            <a:endParaRPr sz="2000"/>
          </a:p>
          <a:p>
            <a:pPr indent="0" lvl="0" marL="0" rtl="0" algn="l">
              <a:spcBef>
                <a:spcPts val="1200"/>
              </a:spcBef>
              <a:spcAft>
                <a:spcPts val="0"/>
              </a:spcAft>
              <a:buClr>
                <a:schemeClr val="dk1"/>
              </a:buClr>
              <a:buSzPts val="1100"/>
              <a:buFont typeface="Arial"/>
              <a:buNone/>
            </a:pPr>
            <a:r>
              <a:rPr lang="en" sz="2000"/>
              <a:t>Earlier pilot and constraint experiments remain for context.</a:t>
            </a:r>
            <a:endParaRPr sz="2000"/>
          </a:p>
          <a:p>
            <a:pPr indent="0" lvl="0" marL="0" rtl="0" algn="l">
              <a:spcBef>
                <a:spcPts val="1200"/>
              </a:spcBef>
              <a:spcAft>
                <a:spcPts val="1200"/>
              </a:spcAft>
              <a:buNone/>
            </a:pPr>
            <a:r>
              <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Four fresh pools exclude an 8-bus solution</a:t>
            </a:r>
            <a:endParaRPr/>
          </a:p>
        </p:txBody>
      </p:sp>
      <p:graphicFrame>
        <p:nvGraphicFramePr>
          <p:cNvPr id="67" name="Google Shape;67;p15"/>
          <p:cNvGraphicFramePr/>
          <p:nvPr/>
        </p:nvGraphicFramePr>
        <p:xfrm>
          <a:off x="952500" y="1619250"/>
          <a:ext cx="3000000" cy="3000000"/>
        </p:xfrm>
        <a:graphic>
          <a:graphicData uri="http://schemas.openxmlformats.org/drawingml/2006/table">
            <a:tbl>
              <a:tblPr>
                <a:noFill/>
                <a:tableStyleId>{CD285A16-08EB-414C-A3FC-68C5544E96D4}</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en" sz="2000"/>
                        <a:t>Chain</a:t>
                      </a:r>
                      <a:endParaRPr sz="2000"/>
                    </a:p>
                  </a:txBody>
                  <a:tcPr marT="91425" marB="91425" marR="91425" marL="91425"/>
                </a:tc>
                <a:tc>
                  <a:txBody>
                    <a:bodyPr/>
                    <a:lstStyle/>
                    <a:p>
                      <a:pPr indent="0" lvl="0" marL="0" rtl="0" algn="l">
                        <a:spcBef>
                          <a:spcPts val="0"/>
                        </a:spcBef>
                        <a:spcAft>
                          <a:spcPts val="0"/>
                        </a:spcAft>
                        <a:buNone/>
                      </a:pPr>
                      <a:r>
                        <a:rPr lang="en" sz="2000"/>
                        <a:t>LP weight</a:t>
                      </a:r>
                      <a:endParaRPr sz="2000"/>
                    </a:p>
                  </a:txBody>
                  <a:tcPr marT="91425" marB="91425" marR="91425" marL="91425"/>
                </a:tc>
                <a:tc>
                  <a:txBody>
                    <a:bodyPr/>
                    <a:lstStyle/>
                    <a:p>
                      <a:pPr indent="0" lvl="0" marL="0" rtl="0" algn="l">
                        <a:spcBef>
                          <a:spcPts val="0"/>
                        </a:spcBef>
                        <a:spcAft>
                          <a:spcPts val="0"/>
                        </a:spcAft>
                        <a:buNone/>
                      </a:pPr>
                      <a:r>
                        <a:rPr lang="en" sz="2000"/>
                        <a:t>Pool MIP</a:t>
                      </a:r>
                      <a:endParaRPr sz="2000"/>
                    </a:p>
                  </a:txBody>
                  <a:tcPr marT="91425" marB="91425" marR="91425" marL="91425"/>
                </a:tc>
                <a:tc>
                  <a:txBody>
                    <a:bodyPr/>
                    <a:lstStyle/>
                    <a:p>
                      <a:pPr indent="0" lvl="0" marL="0" rtl="0" algn="l">
                        <a:spcBef>
                          <a:spcPts val="0"/>
                        </a:spcBef>
                        <a:spcAft>
                          <a:spcPts val="0"/>
                        </a:spcAft>
                        <a:buNone/>
                      </a:pPr>
                      <a:r>
                        <a:rPr lang="en" sz="2000"/>
                        <a:t>Added*</a:t>
                      </a:r>
                      <a:endParaRPr sz="2000"/>
                    </a:p>
                  </a:txBody>
                  <a:tcPr marT="91425" marB="91425" marR="91425" marL="91425"/>
                </a:tc>
                <a:tc>
                  <a:txBody>
                    <a:bodyPr/>
                    <a:lstStyle/>
                    <a:p>
                      <a:pPr indent="0" lvl="0" marL="0" rtl="0" algn="l">
                        <a:spcBef>
                          <a:spcPts val="0"/>
                        </a:spcBef>
                        <a:spcAft>
                          <a:spcPts val="0"/>
                        </a:spcAft>
                        <a:buNone/>
                      </a:pPr>
                      <a:r>
                        <a:rPr lang="en" sz="2000"/>
                        <a:t>After*</a:t>
                      </a:r>
                      <a:endParaRPr sz="2000"/>
                    </a:p>
                  </a:txBody>
                  <a:tcPr marT="91425" marB="91425" marR="91425" marL="91425"/>
                </a:tc>
              </a:tr>
              <a:tr h="381000">
                <a:tc>
                  <a:txBody>
                    <a:bodyPr/>
                    <a:lstStyle/>
                    <a:p>
                      <a:pPr indent="0" lvl="0" marL="0" rtl="0" algn="l">
                        <a:spcBef>
                          <a:spcPts val="0"/>
                        </a:spcBef>
                        <a:spcAft>
                          <a:spcPts val="0"/>
                        </a:spcAft>
                        <a:buNone/>
                      </a:pPr>
                      <a:r>
                        <a:rPr lang="en" sz="2000"/>
                        <a:t>C1</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r>
              <a:tr h="381000">
                <a:tc>
                  <a:txBody>
                    <a:bodyPr/>
                    <a:lstStyle/>
                    <a:p>
                      <a:pPr indent="0" lvl="0" marL="0" rtl="0" algn="l">
                        <a:spcBef>
                          <a:spcPts val="0"/>
                        </a:spcBef>
                        <a:spcAft>
                          <a:spcPts val="0"/>
                        </a:spcAft>
                        <a:buNone/>
                      </a:pPr>
                      <a:r>
                        <a:rPr lang="en" sz="2000"/>
                        <a:t>C3</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r>
              <a:tr h="381000">
                <a:tc>
                  <a:txBody>
                    <a:bodyPr/>
                    <a:lstStyle/>
                    <a:p>
                      <a:pPr indent="0" lvl="0" marL="0" rtl="0" algn="l">
                        <a:spcBef>
                          <a:spcPts val="0"/>
                        </a:spcBef>
                        <a:spcAft>
                          <a:spcPts val="0"/>
                        </a:spcAft>
                        <a:buNone/>
                      </a:pPr>
                      <a:r>
                        <a:rPr lang="en" sz="2000"/>
                        <a:t>C4</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r>
              <a:tr h="381000">
                <a:tc>
                  <a:txBody>
                    <a:bodyPr/>
                    <a:lstStyle/>
                    <a:p>
                      <a:pPr indent="0" lvl="0" marL="0" rtl="0" algn="l">
                        <a:spcBef>
                          <a:spcPts val="0"/>
                        </a:spcBef>
                        <a:spcAft>
                          <a:spcPts val="0"/>
                        </a:spcAft>
                        <a:buNone/>
                      </a:pPr>
                      <a:r>
                        <a:rPr lang="en" sz="2000"/>
                        <a:t>C5</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r>
            </a:tbl>
          </a:graphicData>
        </a:graphic>
      </p:graphicFrame>
      <p:sp>
        <p:nvSpPr>
          <p:cNvPr id="68" name="Google Shape;68;p15"/>
          <p:cNvSpPr txBox="1"/>
          <p:nvPr/>
        </p:nvSpPr>
        <p:spPr>
          <a:xfrm>
            <a:off x="411025" y="4376975"/>
            <a:ext cx="8354100" cy="6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700">
                <a:solidFill>
                  <a:schemeClr val="dk2"/>
                </a:solidFill>
              </a:rPr>
              <a:t>* Add known sequential routes to the fresh pool, then re-solve.</a:t>
            </a:r>
            <a:endParaRPr sz="1700">
              <a:solidFill>
                <a:schemeClr val="dk2"/>
              </a:solidFill>
            </a:endParaRPr>
          </a:p>
          <a:p>
            <a:pPr indent="0" lvl="0" marL="0" rtl="0" algn="l">
              <a:spcBef>
                <a:spcPts val="0"/>
              </a:spcBef>
              <a:spcAft>
                <a:spcPts val="0"/>
              </a:spcAft>
              <a:buClr>
                <a:schemeClr val="dk1"/>
              </a:buClr>
              <a:buSzPts val="1100"/>
              <a:buFont typeface="Arial"/>
              <a:buNone/>
            </a:pPr>
            <a:r>
              <a:rPr lang="en" sz="1700">
                <a:solidFill>
                  <a:schemeClr val="dk2"/>
                </a:solidFill>
              </a:rPr>
              <a:t>Both MIP columns show proved fleet minima within their pools.</a:t>
            </a:r>
            <a:endParaRPr sz="1700">
              <a:solidFill>
                <a:schemeClr val="dk2"/>
              </a:solidFill>
            </a:endParaRPr>
          </a:p>
          <a:p>
            <a:pPr indent="0" lvl="0" marL="0" rtl="0" algn="l">
              <a:spcBef>
                <a:spcPts val="0"/>
              </a:spcBef>
              <a:spcAft>
                <a:spcPts val="0"/>
              </a:spcAft>
              <a:buNone/>
            </a:pPr>
            <a:r>
              <a:t/>
            </a:r>
            <a:endParaRPr sz="17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Read the proof in Gurobi’s log</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t>Chain 1, k=8: stage 1 minimizes only the number of buses.</a:t>
            </a:r>
            <a:endParaRPr sz="2000"/>
          </a:p>
          <a:p>
            <a:pPr indent="0" lvl="0" marL="0" rtl="0" algn="l">
              <a:spcBef>
                <a:spcPts val="1200"/>
              </a:spcBef>
              <a:spcAft>
                <a:spcPts val="0"/>
              </a:spcAft>
              <a:buClr>
                <a:schemeClr val="dk1"/>
              </a:buClr>
              <a:buSzPts val="1100"/>
              <a:buFont typeface="Arial"/>
              <a:buNone/>
            </a:pPr>
            <a:r>
              <a:rPr lang="en" sz="2000"/>
              <a:t>194 trip rows • 39,940 route variables</a:t>
            </a:r>
            <a:endParaRPr sz="2000"/>
          </a:p>
          <a:p>
            <a:pPr indent="0" lvl="0" marL="0" rtl="0" algn="l">
              <a:spcBef>
                <a:spcPts val="1200"/>
              </a:spcBef>
              <a:spcAft>
                <a:spcPts val="0"/>
              </a:spcAft>
              <a:buClr>
                <a:schemeClr val="dk1"/>
              </a:buClr>
              <a:buSzPts val="1100"/>
              <a:buFont typeface="Arial"/>
              <a:buNone/>
            </a:pPr>
            <a:r>
              <a:rPr lang="en" sz="2000"/>
              <a:t>“Optimal solution found (tolerance 1.00e-04)”</a:t>
            </a:r>
            <a:endParaRPr sz="2000"/>
          </a:p>
          <a:p>
            <a:pPr indent="0" lvl="0" marL="0" rtl="0" algn="l">
              <a:spcBef>
                <a:spcPts val="1200"/>
              </a:spcBef>
              <a:spcAft>
                <a:spcPts val="0"/>
              </a:spcAft>
              <a:buClr>
                <a:schemeClr val="dk1"/>
              </a:buClr>
              <a:buSzPts val="1100"/>
              <a:buFont typeface="Arial"/>
              <a:buNone/>
            </a:pPr>
            <a:r>
              <a:rPr lang="en" sz="2000"/>
              <a:t>“Best objective 9 … best bound 9 … gap 0.0000%”</a:t>
            </a:r>
            <a:endParaRPr sz="2000"/>
          </a:p>
          <a:p>
            <a:pPr indent="0" lvl="0" marL="0" rtl="0" algn="l">
              <a:spcBef>
                <a:spcPts val="1200"/>
              </a:spcBef>
              <a:spcAft>
                <a:spcPts val="0"/>
              </a:spcAft>
              <a:buClr>
                <a:schemeClr val="dk1"/>
              </a:buClr>
              <a:buSzPts val="1100"/>
              <a:buFont typeface="Arial"/>
              <a:buNone/>
            </a:pPr>
            <a:r>
              <a:rPr lang="en" sz="2000"/>
              <a:t>Incumbent 9 + bound 9 ⇒ no 8-bus cover in this pool.</a:t>
            </a:r>
            <a:endParaRPr sz="2000"/>
          </a:p>
          <a:p>
            <a:pPr indent="0" lvl="0" marL="0" rtl="0" algn="l">
              <a:spcBef>
                <a:spcPts val="1200"/>
              </a:spcBef>
              <a:spcAft>
                <a:spcPts val="0"/>
              </a:spcAft>
              <a:buClr>
                <a:schemeClr val="dk1"/>
              </a:buClr>
              <a:buSzPts val="1100"/>
              <a:buFont typeface="Arial"/>
              <a:buNone/>
            </a:pPr>
            <a:r>
              <a:rPr lang="en" sz="2000"/>
              <a:t>Adding eight witness routes: objective 8, bound 8.</a:t>
            </a:r>
            <a:endParaRPr sz="2000"/>
          </a:p>
          <a:p>
            <a:pPr indent="0" lvl="0" marL="0" rtl="0" algn="l">
              <a:spcBef>
                <a:spcPts val="1200"/>
              </a:spcBef>
              <a:spcAft>
                <a:spcPts val="0"/>
              </a:spcAft>
              <a:buClr>
                <a:schemeClr val="dk1"/>
              </a:buClr>
              <a:buSzPts val="1100"/>
              <a:buFont typeface="Arial"/>
              <a:buNone/>
            </a:pPr>
            <a:r>
              <a:rPr lang="en" sz="2000"/>
              <a:t>The later charging-stage gap does not undo this fleet proof.</a:t>
            </a:r>
            <a:endParaRPr sz="2000"/>
          </a:p>
          <a:p>
            <a:pPr indent="0" lvl="0" marL="0" rtl="0" algn="l">
              <a:spcBef>
                <a:spcPts val="1200"/>
              </a:spcBef>
              <a:spcAft>
                <a:spcPts val="1200"/>
              </a:spcAft>
              <a:buNone/>
            </a:pPr>
            <a:r>
              <a:t/>
            </a:r>
            <a:endParaRPr sz="2000"/>
          </a:p>
        </p:txBody>
      </p:sp>
      <p:sp>
        <p:nvSpPr>
          <p:cNvPr id="75" name="Google Shape;75;p16"/>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a good LP can give a poor integer pool</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t>The LP spreads 8 units of route weight over 80–101 routes.</a:t>
            </a:r>
            <a:endParaRPr sz="2000"/>
          </a:p>
          <a:p>
            <a:pPr indent="0" lvl="0" marL="0" rtl="0" algn="l">
              <a:spcBef>
                <a:spcPts val="1200"/>
              </a:spcBef>
              <a:spcAft>
                <a:spcPts val="0"/>
              </a:spcAft>
              <a:buClr>
                <a:schemeClr val="dk1"/>
              </a:buClr>
              <a:buSzPts val="1100"/>
              <a:buFont typeface="Arial"/>
              <a:buNone/>
            </a:pPr>
            <a:r>
              <a:rPr lang="en" sz="2000"/>
              <a:t>Whole buses need a compatible set of complete routes.</a:t>
            </a:r>
            <a:endParaRPr sz="2000"/>
          </a:p>
          <a:p>
            <a:pPr indent="0" lvl="0" marL="0" rtl="0" algn="l">
              <a:spcBef>
                <a:spcPts val="1200"/>
              </a:spcBef>
              <a:spcAft>
                <a:spcPts val="0"/>
              </a:spcAft>
              <a:buClr>
                <a:schemeClr val="dk1"/>
              </a:buClr>
              <a:buSzPts val="1100"/>
              <a:buFont typeface="Arial"/>
              <a:buNone/>
            </a:pPr>
            <a:r>
              <a:rPr lang="en" sz="2000"/>
              <a:t>LP pricing looks for improvement in the fractional objective.</a:t>
            </a:r>
            <a:endParaRPr sz="2000"/>
          </a:p>
          <a:p>
            <a:pPr indent="0" lvl="0" marL="0" rtl="0" algn="l">
              <a:spcBef>
                <a:spcPts val="1200"/>
              </a:spcBef>
              <a:spcAft>
                <a:spcPts val="0"/>
              </a:spcAft>
              <a:buClr>
                <a:schemeClr val="dk1"/>
              </a:buClr>
              <a:buSzPts val="1100"/>
              <a:buFont typeface="Arial"/>
              <a:buNone/>
            </a:pPr>
            <a:r>
              <a:rPr lang="en" sz="2000"/>
              <a:t>A route can cost slightly more fractionally, yet complete a better integer cover. Its reduced cost can be positive.</a:t>
            </a:r>
            <a:endParaRPr sz="2000"/>
          </a:p>
          <a:p>
            <a:pPr indent="0" lvl="0" marL="0" rtl="0" algn="l">
              <a:spcBef>
                <a:spcPts val="1200"/>
              </a:spcBef>
              <a:spcAft>
                <a:spcPts val="0"/>
              </a:spcAft>
              <a:buClr>
                <a:schemeClr val="dk1"/>
              </a:buClr>
              <a:buSzPts val="1100"/>
              <a:buFont typeface="Arial"/>
              <a:buNone/>
            </a:pPr>
            <a:r>
              <a:rPr lang="en" sz="2000"/>
              <a:t>Sequential runs retain routes from earlier dual prices.</a:t>
            </a:r>
            <a:endParaRPr sz="2000"/>
          </a:p>
          <a:p>
            <a:pPr indent="0" lvl="0" marL="0" rtl="0" algn="l">
              <a:spcBef>
                <a:spcPts val="1200"/>
              </a:spcBef>
              <a:spcAft>
                <a:spcPts val="0"/>
              </a:spcAft>
              <a:buClr>
                <a:schemeClr val="dk1"/>
              </a:buClr>
              <a:buSzPts val="1100"/>
              <a:buFont typeface="Arial"/>
              <a:buNone/>
            </a:pPr>
            <a:r>
              <a:rPr lang="en" sz="2000"/>
              <a:t>Diving changes the dual prices by fixing part of a cover.</a:t>
            </a:r>
            <a:endParaRPr sz="2000"/>
          </a:p>
          <a:p>
            <a:pPr indent="0" lvl="0" marL="0" rtl="0" algn="l">
              <a:spcBef>
                <a:spcPts val="1200"/>
              </a:spcBef>
              <a:spcAft>
                <a:spcPts val="1200"/>
              </a:spcAft>
              <a:buNone/>
            </a:pPr>
            <a:r>
              <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small example: fractional value versus compatibility</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200"/>
              <a:t>Six trips: A, B, C and D, E, F. Each route below costs 100.</a:t>
            </a:r>
            <a:endParaRPr sz="2200"/>
          </a:p>
          <a:p>
            <a:pPr indent="0" lvl="0" marL="0" rtl="0" algn="l">
              <a:lnSpc>
                <a:spcPct val="100000"/>
              </a:lnSpc>
              <a:spcBef>
                <a:spcPts val="0"/>
              </a:spcBef>
              <a:spcAft>
                <a:spcPts val="0"/>
              </a:spcAft>
              <a:buClr>
                <a:schemeClr val="dk1"/>
              </a:buClr>
              <a:buSzPts val="1100"/>
              <a:buFont typeface="Arial"/>
              <a:buNone/>
            </a:pPr>
            <a:r>
              <a:rPr lang="en" sz="2200"/>
              <a:t>Pool: AB, AC, BC, DE, DF, EF.</a:t>
            </a:r>
            <a:endParaRPr sz="2200"/>
          </a:p>
          <a:p>
            <a:pPr indent="0" lvl="0" marL="0" rtl="0" algn="l">
              <a:lnSpc>
                <a:spcPct val="100000"/>
              </a:lnSpc>
              <a:spcBef>
                <a:spcPts val="0"/>
              </a:spcBef>
              <a:spcAft>
                <a:spcPts val="0"/>
              </a:spcAft>
              <a:buClr>
                <a:schemeClr val="dk1"/>
              </a:buClr>
              <a:buSzPts val="1100"/>
              <a:buFont typeface="Arial"/>
              <a:buNone/>
            </a:pPr>
            <a:r>
              <a:t/>
            </a:r>
            <a:endParaRPr sz="2200"/>
          </a:p>
          <a:p>
            <a:pPr indent="0" lvl="0" marL="0" rtl="0" algn="l">
              <a:lnSpc>
                <a:spcPct val="100000"/>
              </a:lnSpc>
              <a:spcBef>
                <a:spcPts val="0"/>
              </a:spcBef>
              <a:spcAft>
                <a:spcPts val="0"/>
              </a:spcAft>
              <a:buClr>
                <a:schemeClr val="dk1"/>
              </a:buClr>
              <a:buSzPts val="1100"/>
              <a:buFont typeface="Arial"/>
              <a:buNone/>
            </a:pPr>
            <a:r>
              <a:rPr lang="en" sz="2200"/>
              <a:t>LP: take half of every route → 3 route units, cost 300.</a:t>
            </a:r>
            <a:endParaRPr sz="2200"/>
          </a:p>
          <a:p>
            <a:pPr indent="0" lvl="0" marL="0" rtl="0" algn="l">
              <a:lnSpc>
                <a:spcPct val="100000"/>
              </a:lnSpc>
              <a:spcBef>
                <a:spcPts val="0"/>
              </a:spcBef>
              <a:spcAft>
                <a:spcPts val="0"/>
              </a:spcAft>
              <a:buClr>
                <a:schemeClr val="dk1"/>
              </a:buClr>
              <a:buSzPts val="1100"/>
              <a:buFont typeface="Arial"/>
              <a:buNone/>
            </a:pPr>
            <a:r>
              <a:rPr lang="en" sz="2200"/>
              <a:t>Integer pool: two routes per triangle → 4 buses, cost 400.</a:t>
            </a:r>
            <a:endParaRPr sz="2200"/>
          </a:p>
          <a:p>
            <a:pPr indent="0" lvl="0" marL="0" rtl="0" algn="l">
              <a:lnSpc>
                <a:spcPct val="100000"/>
              </a:lnSpc>
              <a:spcBef>
                <a:spcPts val="0"/>
              </a:spcBef>
              <a:spcAft>
                <a:spcPts val="0"/>
              </a:spcAft>
              <a:buClr>
                <a:schemeClr val="dk1"/>
              </a:buClr>
              <a:buSzPts val="1100"/>
              <a:buFont typeface="Arial"/>
              <a:buNone/>
            </a:pPr>
            <a:r>
              <a:t/>
            </a:r>
            <a:endParaRPr sz="2200"/>
          </a:p>
          <a:p>
            <a:pPr indent="0" lvl="0" marL="0" rtl="0" algn="l">
              <a:lnSpc>
                <a:spcPct val="100000"/>
              </a:lnSpc>
              <a:spcBef>
                <a:spcPts val="0"/>
              </a:spcBef>
              <a:spcAft>
                <a:spcPts val="0"/>
              </a:spcAft>
              <a:buClr>
                <a:schemeClr val="dk1"/>
              </a:buClr>
              <a:buSzPts val="1100"/>
              <a:buFont typeface="Arial"/>
              <a:buNone/>
            </a:pPr>
            <a:r>
              <a:rPr lang="en" sz="2200"/>
              <a:t>Add AD at cost 101. Reduced cost = 101 − 50 − 50 = +1.</a:t>
            </a:r>
            <a:endParaRPr sz="2200"/>
          </a:p>
          <a:p>
            <a:pPr indent="0" lvl="0" marL="0" rtl="0" algn="l">
              <a:lnSpc>
                <a:spcPct val="100000"/>
              </a:lnSpc>
              <a:spcBef>
                <a:spcPts val="0"/>
              </a:spcBef>
              <a:spcAft>
                <a:spcPts val="0"/>
              </a:spcAft>
              <a:buClr>
                <a:schemeClr val="dk1"/>
              </a:buClr>
              <a:buSzPts val="1100"/>
              <a:buFont typeface="Arial"/>
              <a:buNone/>
            </a:pPr>
            <a:r>
              <a:rPr lang="en" sz="2200"/>
              <a:t>Now AD + BC + EF covers all trips with 3 buses, cost 301.</a:t>
            </a:r>
            <a:endParaRPr sz="2200"/>
          </a:p>
          <a:p>
            <a:pPr indent="0" lvl="0" marL="0" rtl="0" algn="l">
              <a:lnSpc>
                <a:spcPct val="100000"/>
              </a:lnSpc>
              <a:spcBef>
                <a:spcPts val="0"/>
              </a:spcBef>
              <a:spcAft>
                <a:spcPts val="0"/>
              </a:spcAft>
              <a:buClr>
                <a:schemeClr val="dk1"/>
              </a:buClr>
              <a:buSzPts val="1100"/>
              <a:buFont typeface="Arial"/>
              <a:buNone/>
            </a:pPr>
            <a:r>
              <a:rPr lang="en" sz="2200"/>
              <a:t>The better integer cover need not improve the LP.</a:t>
            </a:r>
            <a:endParaRPr sz="2200"/>
          </a:p>
          <a:p>
            <a:pPr indent="0" lvl="0" marL="0" rtl="0" algn="l">
              <a:lnSpc>
                <a:spcPct val="100000"/>
              </a:lnSpc>
              <a:spcBef>
                <a:spcPts val="0"/>
              </a:spcBef>
              <a:spcAft>
                <a:spcPts val="0"/>
              </a:spcAft>
              <a:buNone/>
            </a:pPr>
            <a:r>
              <a:t/>
            </a:r>
            <a:endParaRPr sz="2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Can new pricing recover eight buses?</a:t>
            </a:r>
            <a:endParaRPr/>
          </a:p>
        </p:txBody>
      </p:sp>
      <p:graphicFrame>
        <p:nvGraphicFramePr>
          <p:cNvPr id="93" name="Google Shape;93;p19"/>
          <p:cNvGraphicFramePr/>
          <p:nvPr/>
        </p:nvGraphicFramePr>
        <p:xfrm>
          <a:off x="952500" y="1619250"/>
          <a:ext cx="3000000" cy="3000000"/>
        </p:xfrm>
        <a:graphic>
          <a:graphicData uri="http://schemas.openxmlformats.org/drawingml/2006/table">
            <a:tbl>
              <a:tblPr>
                <a:noFill/>
                <a:tableStyleId>{CD285A16-08EB-414C-A3FC-68C5544E96D4}</a:tableStyleId>
              </a:tblPr>
              <a:tblGrid>
                <a:gridCol w="1809750"/>
                <a:gridCol w="1809750"/>
                <a:gridCol w="1809750"/>
                <a:gridCol w="1809750"/>
              </a:tblGrid>
              <a:tr h="381000">
                <a:tc>
                  <a:txBody>
                    <a:bodyPr/>
                    <a:lstStyle/>
                    <a:p>
                      <a:pPr indent="0" lvl="0" marL="0" rtl="0" algn="l">
                        <a:spcBef>
                          <a:spcPts val="0"/>
                        </a:spcBef>
                        <a:spcAft>
                          <a:spcPts val="0"/>
                        </a:spcAft>
                        <a:buNone/>
                      </a:pPr>
                      <a:r>
                        <a:rPr lang="en" sz="2000"/>
                        <a:t>Chain</a:t>
                      </a:r>
                      <a:endParaRPr sz="2000"/>
                    </a:p>
                  </a:txBody>
                  <a:tcPr marT="91425" marB="91425" marR="91425" marL="91425"/>
                </a:tc>
                <a:tc>
                  <a:txBody>
                    <a:bodyPr/>
                    <a:lstStyle/>
                    <a:p>
                      <a:pPr indent="0" lvl="0" marL="0" rtl="0" algn="l">
                        <a:spcBef>
                          <a:spcPts val="0"/>
                        </a:spcBef>
                        <a:spcAft>
                          <a:spcPts val="0"/>
                        </a:spcAft>
                        <a:buNone/>
                      </a:pPr>
                      <a:r>
                        <a:rPr lang="en" sz="2000"/>
                        <a:t>Controls</a:t>
                      </a:r>
                      <a:endParaRPr sz="2000"/>
                    </a:p>
                  </a:txBody>
                  <a:tcPr marT="91425" marB="91425" marR="91425" marL="91425"/>
                </a:tc>
                <a:tc>
                  <a:txBody>
                    <a:bodyPr/>
                    <a:lstStyle/>
                    <a:p>
                      <a:pPr indent="0" lvl="0" marL="0" rtl="0" algn="l">
                        <a:spcBef>
                          <a:spcPts val="0"/>
                        </a:spcBef>
                        <a:spcAft>
                          <a:spcPts val="0"/>
                        </a:spcAft>
                        <a:buNone/>
                      </a:pPr>
                      <a:r>
                        <a:rPr lang="en" sz="2000"/>
                        <a:t>Dive + MIP</a:t>
                      </a:r>
                      <a:endParaRPr sz="2000"/>
                    </a:p>
                  </a:txBody>
                  <a:tcPr marT="91425" marB="91425" marR="91425" marL="91425"/>
                </a:tc>
                <a:tc>
                  <a:txBody>
                    <a:bodyPr/>
                    <a:lstStyle/>
                    <a:p>
                      <a:pPr indent="0" lvl="0" marL="0" rtl="0" algn="l">
                        <a:spcBef>
                          <a:spcPts val="0"/>
                        </a:spcBef>
                        <a:spcAft>
                          <a:spcPts val="0"/>
                        </a:spcAft>
                        <a:buNone/>
                      </a:pPr>
                      <a:r>
                        <a:rPr lang="en" sz="2000"/>
                        <a:t>Follow-up</a:t>
                      </a:r>
                      <a:endParaRPr sz="2000"/>
                    </a:p>
                  </a:txBody>
                  <a:tcPr marT="91425" marB="91425" marR="91425" marL="91425"/>
                </a:tc>
              </a:tr>
              <a:tr h="381000">
                <a:tc>
                  <a:txBody>
                    <a:bodyPr/>
                    <a:lstStyle/>
                    <a:p>
                      <a:pPr indent="0" lvl="0" marL="0" rtl="0" algn="l">
                        <a:spcBef>
                          <a:spcPts val="0"/>
                        </a:spcBef>
                        <a:spcAft>
                          <a:spcPts val="0"/>
                        </a:spcAft>
                        <a:buNone/>
                      </a:pPr>
                      <a:r>
                        <a:rPr lang="en" sz="2000"/>
                        <a:t>C1</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r>
              <a:tr h="381000">
                <a:tc>
                  <a:txBody>
                    <a:bodyPr/>
                    <a:lstStyle/>
                    <a:p>
                      <a:pPr indent="0" lvl="0" marL="0" rtl="0" algn="l">
                        <a:spcBef>
                          <a:spcPts val="0"/>
                        </a:spcBef>
                        <a:spcAft>
                          <a:spcPts val="0"/>
                        </a:spcAft>
                        <a:buNone/>
                      </a:pPr>
                      <a:r>
                        <a:rPr lang="en" sz="2000"/>
                        <a:t>C3</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a:t>
                      </a:r>
                      <a:endParaRPr sz="2000"/>
                    </a:p>
                  </a:txBody>
                  <a:tcPr marT="91425" marB="91425" marR="91425" marL="91425"/>
                </a:tc>
              </a:tr>
              <a:tr h="381000">
                <a:tc>
                  <a:txBody>
                    <a:bodyPr/>
                    <a:lstStyle/>
                    <a:p>
                      <a:pPr indent="0" lvl="0" marL="0" rtl="0" algn="l">
                        <a:spcBef>
                          <a:spcPts val="0"/>
                        </a:spcBef>
                        <a:spcAft>
                          <a:spcPts val="0"/>
                        </a:spcAft>
                        <a:buNone/>
                      </a:pPr>
                      <a:r>
                        <a:rPr lang="en" sz="2000"/>
                        <a:t>C4</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a:t>
                      </a:r>
                      <a:endParaRPr sz="2000"/>
                    </a:p>
                  </a:txBody>
                  <a:tcPr marT="91425" marB="91425" marR="91425" marL="91425"/>
                </a:tc>
              </a:tr>
              <a:tr h="381000">
                <a:tc>
                  <a:txBody>
                    <a:bodyPr/>
                    <a:lstStyle/>
                    <a:p>
                      <a:pPr indent="0" lvl="0" marL="0" rtl="0" algn="l">
                        <a:spcBef>
                          <a:spcPts val="0"/>
                        </a:spcBef>
                        <a:spcAft>
                          <a:spcPts val="0"/>
                        </a:spcAft>
                        <a:buNone/>
                      </a:pPr>
                      <a:r>
                        <a:rPr lang="en" sz="2000"/>
                        <a:t>C5</a:t>
                      </a:r>
                      <a:endParaRPr sz="2000"/>
                    </a:p>
                  </a:txBody>
                  <a:tcPr marT="91425" marB="91425" marR="91425" marL="91425"/>
                </a:tc>
                <a:tc>
                  <a:txBody>
                    <a:bodyPr/>
                    <a:lstStyle/>
                    <a:p>
                      <a:pPr indent="0" lvl="0" marL="0" rtl="0" algn="l">
                        <a:spcBef>
                          <a:spcPts val="0"/>
                        </a:spcBef>
                        <a:spcAft>
                          <a:spcPts val="0"/>
                        </a:spcAft>
                        <a:buNone/>
                      </a:pPr>
                      <a:r>
                        <a:rPr lang="en" sz="2000"/>
                        <a:t>9</a:t>
                      </a:r>
                      <a:endParaRPr sz="2000"/>
                    </a:p>
                  </a:txBody>
                  <a:tcPr marT="91425" marB="91425" marR="91425" marL="91425"/>
                </a:tc>
                <a:tc>
                  <a:txBody>
                    <a:bodyPr/>
                    <a:lstStyle/>
                    <a:p>
                      <a:pPr indent="0" lvl="0" marL="0" rtl="0" algn="l">
                        <a:spcBef>
                          <a:spcPts val="0"/>
                        </a:spcBef>
                        <a:spcAft>
                          <a:spcPts val="0"/>
                        </a:spcAft>
                        <a:buNone/>
                      </a:pPr>
                      <a:r>
                        <a:rPr lang="en" sz="2000"/>
                        <a:t>8</a:t>
                      </a:r>
                      <a:endParaRPr sz="2000"/>
                    </a:p>
                  </a:txBody>
                  <a:tcPr marT="91425" marB="91425" marR="91425" marL="91425"/>
                </a:tc>
                <a:tc>
                  <a:txBody>
                    <a:bodyPr/>
                    <a:lstStyle/>
                    <a:p>
                      <a:pPr indent="0" lvl="0" marL="0" rtl="0" algn="l">
                        <a:spcBef>
                          <a:spcPts val="0"/>
                        </a:spcBef>
                        <a:spcAft>
                          <a:spcPts val="0"/>
                        </a:spcAft>
                        <a:buNone/>
                      </a:pPr>
                      <a:r>
                        <a:rPr lang="en" sz="2000"/>
                        <a:t>—</a:t>
                      </a:r>
                      <a:endParaRPr sz="2000"/>
                    </a:p>
                  </a:txBody>
                  <a:tcPr marT="91425" marB="91425" marR="91425" marL="91425"/>
                </a:tc>
              </a:tr>
            </a:tbl>
          </a:graphicData>
        </a:graphic>
      </p:graphicFrame>
      <p:sp>
        <p:nvSpPr>
          <p:cNvPr id="94" name="Google Shape;94;p19"/>
          <p:cNvSpPr txBox="1"/>
          <p:nvPr/>
        </p:nvSpPr>
        <p:spPr>
          <a:xfrm>
            <a:off x="411025" y="4354750"/>
            <a:ext cx="8354100" cy="67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700">
                <a:solidFill>
                  <a:schemeClr val="dk2"/>
                </a:solidFill>
              </a:rPr>
              <a:t>Original pilot: 3/4 successes. C1 follow-up: +29.6 minutes.</a:t>
            </a:r>
            <a:endParaRPr sz="1700">
              <a:solidFill>
                <a:schemeClr val="dk2"/>
              </a:solidFill>
            </a:endParaRPr>
          </a:p>
          <a:p>
            <a:pPr indent="0" lvl="0" marL="0" rtl="0" algn="l">
              <a:spcBef>
                <a:spcPts val="0"/>
              </a:spcBef>
              <a:spcAft>
                <a:spcPts val="0"/>
              </a:spcAft>
              <a:buClr>
                <a:schemeClr val="dk1"/>
              </a:buClr>
              <a:buSzPts val="1100"/>
              <a:buFont typeface="Arial"/>
              <a:buNone/>
            </a:pPr>
            <a:r>
              <a:rPr lang="en" sz="1700">
                <a:solidFill>
                  <a:schemeClr val="dk2"/>
                </a:solidFill>
              </a:rPr>
              <a:t>Same distinct routes; passing the dive incumbent recovered eight.</a:t>
            </a:r>
            <a:endParaRPr sz="1700">
              <a:solidFill>
                <a:schemeClr val="dk2"/>
              </a:solidFill>
            </a:endParaRPr>
          </a:p>
          <a:p>
            <a:pPr indent="0" lvl="0" marL="0" rtl="0" algn="l">
              <a:spcBef>
                <a:spcPts val="0"/>
              </a:spcBef>
              <a:spcAft>
                <a:spcPts val="0"/>
              </a:spcAft>
              <a:buNone/>
            </a:pPr>
            <a:r>
              <a:t/>
            </a:r>
            <a:endParaRPr sz="17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Twelve 12-hour searches still miss 15</a:t>
            </a:r>
            <a:endParaRPr/>
          </a:p>
        </p:txBody>
      </p:sp>
      <p:graphicFrame>
        <p:nvGraphicFramePr>
          <p:cNvPr id="100" name="Google Shape;100;p20"/>
          <p:cNvGraphicFramePr/>
          <p:nvPr/>
        </p:nvGraphicFramePr>
        <p:xfrm>
          <a:off x="952500" y="1263825"/>
          <a:ext cx="3000000" cy="3000000"/>
        </p:xfrm>
        <a:graphic>
          <a:graphicData uri="http://schemas.openxmlformats.org/drawingml/2006/table">
            <a:tbl>
              <a:tblPr>
                <a:noFill/>
                <a:tableStyleId>{CD285A16-08EB-414C-A3FC-68C5544E96D4}</a:tableStyleId>
              </a:tblPr>
              <a:tblGrid>
                <a:gridCol w="1809750"/>
                <a:gridCol w="1809750"/>
                <a:gridCol w="1809750"/>
                <a:gridCol w="1809750"/>
              </a:tblGrid>
              <a:tr h="438925">
                <a:tc>
                  <a:txBody>
                    <a:bodyPr/>
                    <a:lstStyle/>
                    <a:p>
                      <a:pPr indent="0" lvl="0" marL="0" rtl="0" algn="l">
                        <a:spcBef>
                          <a:spcPts val="0"/>
                        </a:spcBef>
                        <a:spcAft>
                          <a:spcPts val="0"/>
                        </a:spcAft>
                        <a:buNone/>
                      </a:pPr>
                      <a:r>
                        <a:rPr lang="en" sz="1800"/>
                        <a:t>Chain</a:t>
                      </a:r>
                      <a:endParaRPr sz="1800"/>
                    </a:p>
                  </a:txBody>
                  <a:tcPr marT="91425" marB="91425" marR="91425" marL="91425"/>
                </a:tc>
                <a:tc>
                  <a:txBody>
                    <a:bodyPr/>
                    <a:lstStyle/>
                    <a:p>
                      <a:pPr indent="0" lvl="0" marL="0" rtl="0" algn="l">
                        <a:spcBef>
                          <a:spcPts val="0"/>
                        </a:spcBef>
                        <a:spcAft>
                          <a:spcPts val="0"/>
                        </a:spcAft>
                        <a:buNone/>
                      </a:pPr>
                      <a:r>
                        <a:rPr lang="en" sz="1800"/>
                        <a:t>Plain MIP</a:t>
                      </a:r>
                      <a:endParaRPr sz="1800"/>
                    </a:p>
                  </a:txBody>
                  <a:tcPr marT="91425" marB="91425" marR="91425" marL="91425"/>
                </a:tc>
                <a:tc>
                  <a:txBody>
                    <a:bodyPr/>
                    <a:lstStyle/>
                    <a:p>
                      <a:pPr indent="0" lvl="0" marL="0" rtl="0" algn="l">
                        <a:spcBef>
                          <a:spcPts val="0"/>
                        </a:spcBef>
                        <a:spcAft>
                          <a:spcPts val="0"/>
                        </a:spcAft>
                        <a:buNone/>
                      </a:pPr>
                      <a:r>
                        <a:rPr lang="en" sz="1800"/>
                        <a:t>Heuristics</a:t>
                      </a:r>
                      <a:endParaRPr sz="1800"/>
                    </a:p>
                  </a:txBody>
                  <a:tcPr marT="91425" marB="91425" marR="91425" marL="91425"/>
                </a:tc>
                <a:tc>
                  <a:txBody>
                    <a:bodyPr/>
                    <a:lstStyle/>
                    <a:p>
                      <a:pPr indent="0" lvl="0" marL="0" rtl="0" algn="l">
                        <a:spcBef>
                          <a:spcPts val="0"/>
                        </a:spcBef>
                        <a:spcAft>
                          <a:spcPts val="0"/>
                        </a:spcAft>
                        <a:buNone/>
                      </a:pPr>
                      <a:r>
                        <a:rPr lang="en" sz="1800"/>
                        <a:t>Fleet bound</a:t>
                      </a:r>
                      <a:endParaRPr sz="1800"/>
                    </a:p>
                  </a:txBody>
                  <a:tcPr marT="91425" marB="91425" marR="91425" marL="91425"/>
                </a:tc>
              </a:tr>
              <a:tr h="438925">
                <a:tc>
                  <a:txBody>
                    <a:bodyPr/>
                    <a:lstStyle/>
                    <a:p>
                      <a:pPr indent="0" lvl="0" marL="0" rtl="0" algn="l">
                        <a:spcBef>
                          <a:spcPts val="0"/>
                        </a:spcBef>
                        <a:spcAft>
                          <a:spcPts val="0"/>
                        </a:spcAft>
                        <a:buNone/>
                      </a:pPr>
                      <a:r>
                        <a:rPr lang="en" sz="1800"/>
                        <a:t>C1</a:t>
                      </a:r>
                      <a:endParaRPr sz="1800"/>
                    </a:p>
                  </a:txBody>
                  <a:tcPr marT="91425" marB="91425" marR="91425" marL="91425"/>
                </a:tc>
                <a:tc>
                  <a:txBody>
                    <a:bodyPr/>
                    <a:lstStyle/>
                    <a:p>
                      <a:pPr indent="0" lvl="0" marL="0" rtl="0" algn="l">
                        <a:spcBef>
                          <a:spcPts val="0"/>
                        </a:spcBef>
                        <a:spcAft>
                          <a:spcPts val="0"/>
                        </a:spcAft>
                        <a:buNone/>
                      </a:pPr>
                      <a:r>
                        <a:rPr lang="en" sz="1800"/>
                        <a:t>18</a:t>
                      </a:r>
                      <a:endParaRPr sz="1800"/>
                    </a:p>
                  </a:txBody>
                  <a:tcPr marT="91425" marB="91425" marR="91425" marL="91425"/>
                </a:tc>
                <a:tc>
                  <a:txBody>
                    <a:bodyPr/>
                    <a:lstStyle/>
                    <a:p>
                      <a:pPr indent="0" lvl="0" marL="0" rtl="0" algn="l">
                        <a:spcBef>
                          <a:spcPts val="0"/>
                        </a:spcBef>
                        <a:spcAft>
                          <a:spcPts val="0"/>
                        </a:spcAft>
                        <a:buNone/>
                      </a:pPr>
                      <a:r>
                        <a:rPr lang="en" sz="1800"/>
                        <a:t>18</a:t>
                      </a:r>
                      <a:endParaRPr sz="1800"/>
                    </a:p>
                  </a:txBody>
                  <a:tcPr marT="91425" marB="91425" marR="91425" marL="91425"/>
                </a:tc>
                <a:tc>
                  <a:txBody>
                    <a:bodyPr/>
                    <a:lstStyle/>
                    <a:p>
                      <a:pPr indent="0" lvl="0" marL="0" rtl="0" algn="l">
                        <a:spcBef>
                          <a:spcPts val="0"/>
                        </a:spcBef>
                        <a:spcAft>
                          <a:spcPts val="0"/>
                        </a:spcAft>
                        <a:buNone/>
                      </a:pPr>
                      <a:r>
                        <a:rPr lang="en" sz="1800"/>
                        <a:t>15</a:t>
                      </a:r>
                      <a:endParaRPr sz="1800"/>
                    </a:p>
                  </a:txBody>
                  <a:tcPr marT="91425" marB="91425" marR="91425" marL="91425"/>
                </a:tc>
              </a:tr>
              <a:tr h="438925">
                <a:tc>
                  <a:txBody>
                    <a:bodyPr/>
                    <a:lstStyle/>
                    <a:p>
                      <a:pPr indent="0" lvl="0" marL="0" rtl="0" algn="l">
                        <a:spcBef>
                          <a:spcPts val="0"/>
                        </a:spcBef>
                        <a:spcAft>
                          <a:spcPts val="0"/>
                        </a:spcAft>
                        <a:buNone/>
                      </a:pPr>
                      <a:r>
                        <a:rPr lang="en" sz="1800"/>
                        <a:t>C2</a:t>
                      </a:r>
                      <a:endParaRPr sz="1800"/>
                    </a:p>
                  </a:txBody>
                  <a:tcPr marT="91425" marB="91425" marR="91425" marL="91425"/>
                </a:tc>
                <a:tc>
                  <a:txBody>
                    <a:bodyPr/>
                    <a:lstStyle/>
                    <a:p>
                      <a:pPr indent="0" lvl="0" marL="0" rtl="0" algn="l">
                        <a:spcBef>
                          <a:spcPts val="0"/>
                        </a:spcBef>
                        <a:spcAft>
                          <a:spcPts val="0"/>
                        </a:spcAft>
                        <a:buNone/>
                      </a:pPr>
                      <a:r>
                        <a:rPr lang="en" sz="1800"/>
                        <a:t>17</a:t>
                      </a:r>
                      <a:endParaRPr sz="1800"/>
                    </a:p>
                  </a:txBody>
                  <a:tcPr marT="91425" marB="91425" marR="91425" marL="91425"/>
                </a:tc>
                <a:tc>
                  <a:txBody>
                    <a:bodyPr/>
                    <a:lstStyle/>
                    <a:p>
                      <a:pPr indent="0" lvl="0" marL="0" rtl="0" algn="l">
                        <a:spcBef>
                          <a:spcPts val="0"/>
                        </a:spcBef>
                        <a:spcAft>
                          <a:spcPts val="0"/>
                        </a:spcAft>
                        <a:buNone/>
                      </a:pPr>
                      <a:r>
                        <a:rPr lang="en" sz="1800"/>
                        <a:t>17</a:t>
                      </a:r>
                      <a:endParaRPr sz="1800"/>
                    </a:p>
                  </a:txBody>
                  <a:tcPr marT="91425" marB="91425" marR="91425" marL="91425"/>
                </a:tc>
                <a:tc>
                  <a:txBody>
                    <a:bodyPr/>
                    <a:lstStyle/>
                    <a:p>
                      <a:pPr indent="0" lvl="0" marL="0" rtl="0" algn="l">
                        <a:spcBef>
                          <a:spcPts val="0"/>
                        </a:spcBef>
                        <a:spcAft>
                          <a:spcPts val="0"/>
                        </a:spcAft>
                        <a:buNone/>
                      </a:pPr>
                      <a:r>
                        <a:rPr lang="en" sz="1800"/>
                        <a:t>15</a:t>
                      </a:r>
                      <a:endParaRPr sz="1800"/>
                    </a:p>
                  </a:txBody>
                  <a:tcPr marT="91425" marB="91425" marR="91425" marL="91425"/>
                </a:tc>
              </a:tr>
              <a:tr h="438925">
                <a:tc>
                  <a:txBody>
                    <a:bodyPr/>
                    <a:lstStyle/>
                    <a:p>
                      <a:pPr indent="0" lvl="0" marL="0" rtl="0" algn="l">
                        <a:spcBef>
                          <a:spcPts val="0"/>
                        </a:spcBef>
                        <a:spcAft>
                          <a:spcPts val="0"/>
                        </a:spcAft>
                        <a:buNone/>
                      </a:pPr>
                      <a:r>
                        <a:rPr lang="en" sz="1800"/>
                        <a:t>C3</a:t>
                      </a:r>
                      <a:endParaRPr sz="1800"/>
                    </a:p>
                  </a:txBody>
                  <a:tcPr marT="91425" marB="91425" marR="91425" marL="91425"/>
                </a:tc>
                <a:tc>
                  <a:txBody>
                    <a:bodyPr/>
                    <a:lstStyle/>
                    <a:p>
                      <a:pPr indent="0" lvl="0" marL="0" rtl="0" algn="l">
                        <a:spcBef>
                          <a:spcPts val="0"/>
                        </a:spcBef>
                        <a:spcAft>
                          <a:spcPts val="0"/>
                        </a:spcAft>
                        <a:buNone/>
                      </a:pPr>
                      <a:r>
                        <a:rPr lang="en" sz="1800"/>
                        <a:t>17</a:t>
                      </a:r>
                      <a:endParaRPr sz="1800"/>
                    </a:p>
                  </a:txBody>
                  <a:tcPr marT="91425" marB="91425" marR="91425" marL="91425"/>
                </a:tc>
                <a:tc>
                  <a:txBody>
                    <a:bodyPr/>
                    <a:lstStyle/>
                    <a:p>
                      <a:pPr indent="0" lvl="0" marL="0" rtl="0" algn="l">
                        <a:spcBef>
                          <a:spcPts val="0"/>
                        </a:spcBef>
                        <a:spcAft>
                          <a:spcPts val="0"/>
                        </a:spcAft>
                        <a:buNone/>
                      </a:pPr>
                      <a:r>
                        <a:rPr lang="en" sz="1800"/>
                        <a:t>16</a:t>
                      </a:r>
                      <a:endParaRPr sz="1800"/>
                    </a:p>
                  </a:txBody>
                  <a:tcPr marT="91425" marB="91425" marR="91425" marL="91425"/>
                </a:tc>
                <a:tc>
                  <a:txBody>
                    <a:bodyPr/>
                    <a:lstStyle/>
                    <a:p>
                      <a:pPr indent="0" lvl="0" marL="0" rtl="0" algn="l">
                        <a:spcBef>
                          <a:spcPts val="0"/>
                        </a:spcBef>
                        <a:spcAft>
                          <a:spcPts val="0"/>
                        </a:spcAft>
                        <a:buNone/>
                      </a:pPr>
                      <a:r>
                        <a:rPr lang="en" sz="1800"/>
                        <a:t>15</a:t>
                      </a:r>
                      <a:endParaRPr sz="1800"/>
                    </a:p>
                  </a:txBody>
                  <a:tcPr marT="91425" marB="91425" marR="91425" marL="91425"/>
                </a:tc>
              </a:tr>
              <a:tr h="438925">
                <a:tc>
                  <a:txBody>
                    <a:bodyPr/>
                    <a:lstStyle/>
                    <a:p>
                      <a:pPr indent="0" lvl="0" marL="0" rtl="0" algn="l">
                        <a:spcBef>
                          <a:spcPts val="0"/>
                        </a:spcBef>
                        <a:spcAft>
                          <a:spcPts val="0"/>
                        </a:spcAft>
                        <a:buNone/>
                      </a:pPr>
                      <a:r>
                        <a:rPr lang="en" sz="1800"/>
                        <a:t>C4</a:t>
                      </a:r>
                      <a:endParaRPr sz="1800"/>
                    </a:p>
                  </a:txBody>
                  <a:tcPr marT="91425" marB="91425" marR="91425" marL="91425"/>
                </a:tc>
                <a:tc>
                  <a:txBody>
                    <a:bodyPr/>
                    <a:lstStyle/>
                    <a:p>
                      <a:pPr indent="0" lvl="0" marL="0" rtl="0" algn="l">
                        <a:spcBef>
                          <a:spcPts val="0"/>
                        </a:spcBef>
                        <a:spcAft>
                          <a:spcPts val="0"/>
                        </a:spcAft>
                        <a:buNone/>
                      </a:pPr>
                      <a:r>
                        <a:rPr lang="en" sz="1800"/>
                        <a:t>19</a:t>
                      </a:r>
                      <a:endParaRPr sz="1800"/>
                    </a:p>
                  </a:txBody>
                  <a:tcPr marT="91425" marB="91425" marR="91425" marL="91425"/>
                </a:tc>
                <a:tc>
                  <a:txBody>
                    <a:bodyPr/>
                    <a:lstStyle/>
                    <a:p>
                      <a:pPr indent="0" lvl="0" marL="0" rtl="0" algn="l">
                        <a:spcBef>
                          <a:spcPts val="0"/>
                        </a:spcBef>
                        <a:spcAft>
                          <a:spcPts val="0"/>
                        </a:spcAft>
                        <a:buNone/>
                      </a:pPr>
                      <a:r>
                        <a:rPr lang="en" sz="1800"/>
                        <a:t>17</a:t>
                      </a:r>
                      <a:endParaRPr sz="1800"/>
                    </a:p>
                  </a:txBody>
                  <a:tcPr marT="91425" marB="91425" marR="91425" marL="91425"/>
                </a:tc>
                <a:tc>
                  <a:txBody>
                    <a:bodyPr/>
                    <a:lstStyle/>
                    <a:p>
                      <a:pPr indent="0" lvl="0" marL="0" rtl="0" algn="l">
                        <a:spcBef>
                          <a:spcPts val="0"/>
                        </a:spcBef>
                        <a:spcAft>
                          <a:spcPts val="0"/>
                        </a:spcAft>
                        <a:buNone/>
                      </a:pPr>
                      <a:r>
                        <a:rPr lang="en" sz="1800"/>
                        <a:t>15</a:t>
                      </a:r>
                      <a:endParaRPr sz="1800"/>
                    </a:p>
                  </a:txBody>
                  <a:tcPr marT="91425" marB="91425" marR="91425" marL="91425"/>
                </a:tc>
              </a:tr>
              <a:tr h="438925">
                <a:tc>
                  <a:txBody>
                    <a:bodyPr/>
                    <a:lstStyle/>
                    <a:p>
                      <a:pPr indent="0" lvl="0" marL="0" rtl="0" algn="l">
                        <a:spcBef>
                          <a:spcPts val="0"/>
                        </a:spcBef>
                        <a:spcAft>
                          <a:spcPts val="0"/>
                        </a:spcAft>
                        <a:buNone/>
                      </a:pPr>
                      <a:r>
                        <a:rPr lang="en" sz="1800"/>
                        <a:t>C5</a:t>
                      </a:r>
                      <a:endParaRPr sz="1800"/>
                    </a:p>
                  </a:txBody>
                  <a:tcPr marT="91425" marB="91425" marR="91425" marL="91425"/>
                </a:tc>
                <a:tc>
                  <a:txBody>
                    <a:bodyPr/>
                    <a:lstStyle/>
                    <a:p>
                      <a:pPr indent="0" lvl="0" marL="0" rtl="0" algn="l">
                        <a:spcBef>
                          <a:spcPts val="0"/>
                        </a:spcBef>
                        <a:spcAft>
                          <a:spcPts val="0"/>
                        </a:spcAft>
                        <a:buNone/>
                      </a:pPr>
                      <a:r>
                        <a:rPr lang="en" sz="1800"/>
                        <a:t>16</a:t>
                      </a:r>
                      <a:endParaRPr sz="1800"/>
                    </a:p>
                  </a:txBody>
                  <a:tcPr marT="91425" marB="91425" marR="91425" marL="91425"/>
                </a:tc>
                <a:tc>
                  <a:txBody>
                    <a:bodyPr/>
                    <a:lstStyle/>
                    <a:p>
                      <a:pPr indent="0" lvl="0" marL="0" rtl="0" algn="l">
                        <a:spcBef>
                          <a:spcPts val="0"/>
                        </a:spcBef>
                        <a:spcAft>
                          <a:spcPts val="0"/>
                        </a:spcAft>
                        <a:buNone/>
                      </a:pPr>
                      <a:r>
                        <a:rPr lang="en" sz="1800"/>
                        <a:t>16</a:t>
                      </a:r>
                      <a:endParaRPr sz="1800"/>
                    </a:p>
                  </a:txBody>
                  <a:tcPr marT="91425" marB="91425" marR="91425" marL="91425"/>
                </a:tc>
                <a:tc>
                  <a:txBody>
                    <a:bodyPr/>
                    <a:lstStyle/>
                    <a:p>
                      <a:pPr indent="0" lvl="0" marL="0" rtl="0" algn="l">
                        <a:spcBef>
                          <a:spcPts val="0"/>
                        </a:spcBef>
                        <a:spcAft>
                          <a:spcPts val="0"/>
                        </a:spcAft>
                        <a:buNone/>
                      </a:pPr>
                      <a:r>
                        <a:rPr lang="en" sz="1800"/>
                        <a:t>15</a:t>
                      </a:r>
                      <a:endParaRPr sz="1800"/>
                    </a:p>
                  </a:txBody>
                  <a:tcPr marT="91425" marB="91425" marR="91425" marL="91425"/>
                </a:tc>
              </a:tr>
              <a:tr h="438925">
                <a:tc>
                  <a:txBody>
                    <a:bodyPr/>
                    <a:lstStyle/>
                    <a:p>
                      <a:pPr indent="0" lvl="0" marL="0" rtl="0" algn="l">
                        <a:spcBef>
                          <a:spcPts val="0"/>
                        </a:spcBef>
                        <a:spcAft>
                          <a:spcPts val="0"/>
                        </a:spcAft>
                        <a:buNone/>
                      </a:pPr>
                      <a:r>
                        <a:rPr lang="en" sz="1800"/>
                        <a:t>C6</a:t>
                      </a:r>
                      <a:endParaRPr sz="1800"/>
                    </a:p>
                  </a:txBody>
                  <a:tcPr marT="91425" marB="91425" marR="91425" marL="91425"/>
                </a:tc>
                <a:tc>
                  <a:txBody>
                    <a:bodyPr/>
                    <a:lstStyle/>
                    <a:p>
                      <a:pPr indent="0" lvl="0" marL="0" rtl="0" algn="l">
                        <a:spcBef>
                          <a:spcPts val="0"/>
                        </a:spcBef>
                        <a:spcAft>
                          <a:spcPts val="0"/>
                        </a:spcAft>
                        <a:buNone/>
                      </a:pPr>
                      <a:r>
                        <a:rPr lang="en" sz="1800"/>
                        <a:t>18</a:t>
                      </a:r>
                      <a:endParaRPr sz="1800"/>
                    </a:p>
                  </a:txBody>
                  <a:tcPr marT="91425" marB="91425" marR="91425" marL="91425"/>
                </a:tc>
                <a:tc>
                  <a:txBody>
                    <a:bodyPr/>
                    <a:lstStyle/>
                    <a:p>
                      <a:pPr indent="0" lvl="0" marL="0" rtl="0" algn="l">
                        <a:spcBef>
                          <a:spcPts val="0"/>
                        </a:spcBef>
                        <a:spcAft>
                          <a:spcPts val="0"/>
                        </a:spcAft>
                        <a:buNone/>
                      </a:pPr>
                      <a:r>
                        <a:rPr lang="en" sz="1800"/>
                        <a:t>17</a:t>
                      </a:r>
                      <a:endParaRPr sz="1800"/>
                    </a:p>
                  </a:txBody>
                  <a:tcPr marT="91425" marB="91425" marR="91425" marL="91425"/>
                </a:tc>
                <a:tc>
                  <a:txBody>
                    <a:bodyPr/>
                    <a:lstStyle/>
                    <a:p>
                      <a:pPr indent="0" lvl="0" marL="0" rtl="0" algn="l">
                        <a:spcBef>
                          <a:spcPts val="0"/>
                        </a:spcBef>
                        <a:spcAft>
                          <a:spcPts val="0"/>
                        </a:spcAft>
                        <a:buNone/>
                      </a:pPr>
                      <a:r>
                        <a:rPr lang="en" sz="1800"/>
                        <a:t>15</a:t>
                      </a:r>
                      <a:endParaRPr sz="1800"/>
                    </a:p>
                  </a:txBody>
                  <a:tcPr marT="91425" marB="91425" marR="91425" marL="91425"/>
                </a:tc>
              </a:tr>
            </a:tbl>
          </a:graphicData>
        </a:graphic>
      </p:graphicFrame>
      <p:sp>
        <p:nvSpPr>
          <p:cNvPr id="101" name="Google Shape;101;p20"/>
          <p:cNvSpPr txBox="1"/>
          <p:nvPr/>
        </p:nvSpPr>
        <p:spPr>
          <a:xfrm>
            <a:off x="411025" y="4543600"/>
            <a:ext cx="8421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dk2"/>
                </a:solidFill>
              </a:rPr>
              <a:t>All searches timed out; none proved 15 impossible.</a:t>
            </a:r>
            <a:endParaRPr sz="1500">
              <a:solidFill>
                <a:schemeClr val="dk2"/>
              </a:solidFill>
            </a:endParaRPr>
          </a:p>
          <a:p>
            <a:pPr indent="0" lvl="0" marL="0" rtl="0" algn="l">
              <a:spcBef>
                <a:spcPts val="0"/>
              </a:spcBef>
              <a:spcAft>
                <a:spcPts val="0"/>
              </a:spcAft>
              <a:buClr>
                <a:schemeClr val="dk1"/>
              </a:buClr>
              <a:buSzPts val="1100"/>
              <a:buFont typeface="Arial"/>
              <a:buNone/>
            </a:pPr>
            <a:r>
              <a:rPr lang="en" sz="1500">
                <a:solidFill>
                  <a:schemeClr val="dk2"/>
                </a:solidFill>
              </a:rPr>
              <a:t>The charging stages have also finished. “Heuristics” changes MIP search settings.</a:t>
            </a:r>
            <a:endParaRPr sz="1500">
              <a:solidFill>
                <a:schemeClr val="dk2"/>
              </a:solidFill>
            </a:endParaRPr>
          </a:p>
          <a:p>
            <a:pPr indent="0" lvl="0" marL="0" rtl="0" algn="l">
              <a:spcBef>
                <a:spcPts val="0"/>
              </a:spcBef>
              <a:spcAft>
                <a:spcPts val="0"/>
              </a:spcAft>
              <a:buNone/>
            </a:pPr>
            <a:r>
              <a:t/>
            </a:r>
            <a:endParaRPr sz="15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Capacity pricing: progress, but not yet convergence</a:t>
            </a:r>
            <a:endParaRPr/>
          </a:p>
        </p:txBody>
      </p:sp>
      <p:sp>
        <p:nvSpPr>
          <p:cNvPr id="107" name="Google Shape;107;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8" name="Google Shape;108;p21" title="capacity_on_off_plot.png"/>
          <p:cNvPicPr preferRelativeResize="0"/>
          <p:nvPr/>
        </p:nvPicPr>
        <p:blipFill rotWithShape="1">
          <a:blip r:embed="rId3">
            <a:alphaModFix/>
          </a:blip>
          <a:srcRect b="0" l="0" r="0" t="0"/>
          <a:stretch/>
        </p:blipFill>
        <p:spPr>
          <a:xfrm>
            <a:off x="0" y="1256815"/>
            <a:ext cx="9144003" cy="3585271"/>
          </a:xfrm>
          <a:prstGeom prst="rect">
            <a:avLst/>
          </a:prstGeom>
          <a:noFill/>
          <a:ln>
            <a:noFill/>
          </a:ln>
        </p:spPr>
      </p:pic>
      <p:sp>
        <p:nvSpPr>
          <p:cNvPr id="109" name="Google Shape;109;p21"/>
          <p:cNvSpPr txBox="1"/>
          <p:nvPr/>
        </p:nvSpPr>
        <p:spPr>
          <a:xfrm>
            <a:off x="333275" y="4832450"/>
            <a:ext cx="8643000" cy="31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4 h budgets. Only k=1 with the shortcut certified CG (26.9 min); the other five timed out.</a:t>
            </a:r>
            <a:endParaRPr>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strict large run stalled before pricing</a:t>
            </a:r>
            <a:endParaRPr/>
          </a:p>
        </p:txBody>
      </p:sp>
      <p:sp>
        <p:nvSpPr>
          <p:cNvPr id="115" name="Google Shape;115;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t>k=15: 4 h 17 min to build 260.7 million arcs; zero pricing.</a:t>
            </a:r>
            <a:endParaRPr sz="2000"/>
          </a:p>
          <a:p>
            <a:pPr indent="0" lvl="0" marL="0" rtl="0" algn="l">
              <a:spcBef>
                <a:spcPts val="1200"/>
              </a:spcBef>
              <a:spcAft>
                <a:spcPts val="0"/>
              </a:spcAft>
              <a:buClr>
                <a:schemeClr val="dk1"/>
              </a:buClr>
              <a:buSzPts val="1100"/>
              <a:buFont typeface="Arial"/>
              <a:buNone/>
            </a:pPr>
            <a:r>
              <a:rPr lang="en" sz="2000"/>
              <a:t>k=16: six-hour timeout, peak memory 211.9 GiB.</a:t>
            </a:r>
            <a:endParaRPr sz="2000"/>
          </a:p>
          <a:p>
            <a:pPr indent="0" lvl="0" marL="0" rtl="0" algn="l">
              <a:spcBef>
                <a:spcPts val="1200"/>
              </a:spcBef>
              <a:spcAft>
                <a:spcPts val="0"/>
              </a:spcAft>
              <a:buClr>
                <a:schemeClr val="dk1"/>
              </a:buClr>
              <a:buSzPts val="1100"/>
              <a:buFont typeface="Arial"/>
              <a:buNone/>
            </a:pPr>
            <a:r>
              <a:rPr lang="en" sz="2000"/>
              <a:t>Fix: packed arcs and deferred tie-break keys; physics unchanged.</a:t>
            </a:r>
            <a:endParaRPr sz="2000"/>
          </a:p>
          <a:p>
            <a:pPr indent="0" lvl="0" marL="0" rtl="0" algn="l">
              <a:spcBef>
                <a:spcPts val="1200"/>
              </a:spcBef>
              <a:spcAft>
                <a:spcPts val="0"/>
              </a:spcAft>
              <a:buClr>
                <a:schemeClr val="dk1"/>
              </a:buClr>
              <a:buSzPts val="1100"/>
              <a:buFont typeface="Arial"/>
              <a:buNone/>
            </a:pPr>
            <a:r>
              <a:rPr lang="en" sz="2000"/>
              <a:t>44 tests pass, plus five fixed-dual and physical replay checks.</a:t>
            </a:r>
            <a:endParaRPr sz="2000"/>
          </a:p>
          <a:p>
            <a:pPr indent="0" lvl="0" marL="0" rtl="0" algn="l">
              <a:spcBef>
                <a:spcPts val="1200"/>
              </a:spcBef>
              <a:spcAft>
                <a:spcPts val="0"/>
              </a:spcAft>
              <a:buClr>
                <a:schemeClr val="dk1"/>
              </a:buClr>
              <a:buSzPts val="1100"/>
              <a:buFont typeface="Arial"/>
              <a:buNone/>
            </a:pPr>
            <a:r>
              <a:rPr lang="en" sz="2000"/>
              <a:t>26-trip audit: graph build 121 → 42 s; memory 2.06 → 0.147 GiB.</a:t>
            </a:r>
            <a:endParaRPr sz="2000"/>
          </a:p>
          <a:p>
            <a:pPr indent="0" lvl="0" marL="0" rtl="0" algn="l">
              <a:spcBef>
                <a:spcPts val="1200"/>
              </a:spcBef>
              <a:spcAft>
                <a:spcPts val="0"/>
              </a:spcAft>
              <a:buClr>
                <a:schemeClr val="dk1"/>
              </a:buClr>
              <a:buSzPts val="1100"/>
              <a:buFont typeface="Arial"/>
              <a:buNone/>
            </a:pPr>
            <a:r>
              <a:rPr lang="en" sz="2000"/>
              <a:t>The new k=16 CG is running; its large-case result is pending.</a:t>
            </a:r>
            <a:endParaRPr sz="2000"/>
          </a:p>
          <a:p>
            <a:pPr indent="0" lvl="0" marL="0" rtl="0" algn="l">
              <a:spcBef>
                <a:spcPts val="1200"/>
              </a:spcBef>
              <a:spcAft>
                <a:spcPts val="1200"/>
              </a:spcAft>
              <a:buNone/>
            </a:pPr>
            <a:r>
              <a:t/>
            </a:r>
            <a:endParaRPr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Remove duplicate service, then optimize charging</a:t>
            </a:r>
            <a:endParaRPr/>
          </a:p>
        </p:txBody>
      </p:sp>
      <p:sp>
        <p:nvSpPr>
          <p:cNvPr id="121" name="Google Shape;121;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t>Choose exactly one bus to serve each duplicated trip.</a:t>
            </a:r>
            <a:endParaRPr sz="2000"/>
          </a:p>
          <a:p>
            <a:pPr indent="0" lvl="0" marL="0" rtl="0" algn="l">
              <a:spcBef>
                <a:spcPts val="1200"/>
              </a:spcBef>
              <a:spcAft>
                <a:spcPts val="0"/>
              </a:spcAft>
              <a:buClr>
                <a:schemeClr val="dk1"/>
              </a:buClr>
              <a:buSzPts val="1100"/>
              <a:buFont typeface="Arial"/>
              <a:buNone/>
            </a:pPr>
            <a:r>
              <a:rPr lang="en" sz="2000"/>
              <a:t>Retain movement if needed; waiting at the wrong stop is invalid.</a:t>
            </a:r>
            <a:endParaRPr sz="2000"/>
          </a:p>
          <a:p>
            <a:pPr indent="0" lvl="0" marL="0" rtl="0" algn="l">
              <a:spcBef>
                <a:spcPts val="1200"/>
              </a:spcBef>
              <a:spcAft>
                <a:spcPts val="0"/>
              </a:spcAft>
              <a:buClr>
                <a:schemeClr val="dk1"/>
              </a:buClr>
              <a:buSzPts val="1100"/>
              <a:buFont typeface="Arial"/>
              <a:buNone/>
            </a:pPr>
            <a:r>
              <a:rPr lang="en" sz="2000"/>
              <a:t>Try shorter connections, then check time, SOC and chargers.</a:t>
            </a:r>
            <a:endParaRPr sz="2000"/>
          </a:p>
          <a:p>
            <a:pPr indent="0" lvl="0" marL="0" rtl="0" algn="l">
              <a:spcBef>
                <a:spcPts val="1200"/>
              </a:spcBef>
              <a:spcAft>
                <a:spcPts val="0"/>
              </a:spcAft>
              <a:buClr>
                <a:schemeClr val="dk1"/>
              </a:buClr>
              <a:buSzPts val="1100"/>
              <a:buFont typeface="Arial"/>
              <a:buNone/>
            </a:pPr>
            <a:r>
              <a:rPr lang="en" sz="2000"/>
              <a:t>Reoptimize charging after making the service assignment.</a:t>
            </a:r>
            <a:endParaRPr sz="2000"/>
          </a:p>
          <a:p>
            <a:pPr indent="0" lvl="0" marL="0" rtl="0" algn="l">
              <a:spcBef>
                <a:spcPts val="1200"/>
              </a:spcBef>
              <a:spcAft>
                <a:spcPts val="0"/>
              </a:spcAft>
              <a:buClr>
                <a:schemeClr val="dk1"/>
              </a:buClr>
              <a:buSzPts val="1100"/>
              <a:buFont typeface="Arial"/>
              <a:buNone/>
            </a:pPr>
            <a:r>
              <a:rPr lang="en" sz="2000"/>
              <a:t>Tested k=5: 5 buses, 62 trips served exactly once.</a:t>
            </a:r>
            <a:endParaRPr sz="2000"/>
          </a:p>
          <a:p>
            <a:pPr indent="0" lvl="0" marL="0" rtl="0" algn="l">
              <a:spcBef>
                <a:spcPts val="1200"/>
              </a:spcBef>
              <a:spcAft>
                <a:spcPts val="0"/>
              </a:spcAft>
              <a:buClr>
                <a:schemeClr val="dk1"/>
              </a:buClr>
              <a:buSzPts val="1100"/>
              <a:buFont typeface="Arial"/>
              <a:buNone/>
            </a:pPr>
            <a:r>
              <a:rPr lang="en" sz="2000"/>
              <a:t>Charging energy fell 80.87 kWh; electricity cost fell 2.58.</a:t>
            </a:r>
            <a:endParaRPr sz="2000"/>
          </a:p>
          <a:p>
            <a:pPr indent="0" lvl="0" marL="0" rtl="0" algn="l">
              <a:spcBef>
                <a:spcPts val="1200"/>
              </a:spcBef>
              <a:spcAft>
                <a:spcPts val="1200"/>
              </a:spcAft>
              <a:buNone/>
            </a:pPr>
            <a:r>
              <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111100"/>
            <a:ext cx="8520600" cy="90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k=5: charging under matched vehicle physics</a:t>
            </a:r>
            <a:endParaRPr/>
          </a:p>
        </p:txBody>
      </p:sp>
      <p:sp>
        <p:nvSpPr>
          <p:cNvPr id="127" name="Google Shape;127;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8" name="Google Shape;128;p24" title="one_bus_k5_joint_matched.png"/>
          <p:cNvPicPr preferRelativeResize="0"/>
          <p:nvPr/>
        </p:nvPicPr>
        <p:blipFill>
          <a:blip r:embed="rId3">
            <a:alphaModFix/>
          </a:blip>
          <a:stretch>
            <a:fillRect/>
          </a:stretch>
        </p:blipFill>
        <p:spPr>
          <a:xfrm>
            <a:off x="611000" y="716949"/>
            <a:ext cx="8040950" cy="42874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matched—and what this test measures</a:t>
            </a:r>
            <a:endParaRPr/>
          </a:p>
        </p:txBody>
      </p:sp>
      <p:sp>
        <p:nvSpPr>
          <p:cNvPr id="134" name="Google Shape;134;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236.44 kWh battery • 15% reserve • PARX at 60 kW</a:t>
            </a:r>
            <a:endParaRPr/>
          </a:p>
          <a:p>
            <a:pPr indent="0" lvl="0" marL="0" rtl="0" algn="l">
              <a:spcBef>
                <a:spcPts val="1200"/>
              </a:spcBef>
              <a:spcAft>
                <a:spcPts val="0"/>
              </a:spcAft>
              <a:buClr>
                <a:schemeClr val="dk1"/>
              </a:buClr>
              <a:buSzPts val="1100"/>
              <a:buFont typeface="Arial"/>
              <a:buNone/>
            </a:pPr>
            <a:r>
              <a:rPr lang="en"/>
              <a:t>Documented opportunity-charge taper • minimum 3 minutes</a:t>
            </a:r>
            <a:endParaRPr/>
          </a:p>
          <a:p>
            <a:pPr indent="0" lvl="0" marL="0" rtl="0" algn="l">
              <a:spcBef>
                <a:spcPts val="1200"/>
              </a:spcBef>
              <a:spcAft>
                <a:spcPts val="0"/>
              </a:spcAft>
              <a:buClr>
                <a:schemeClr val="dk1"/>
              </a:buClr>
              <a:buSzPts val="1100"/>
              <a:buFont typeface="Arial"/>
              <a:buNone/>
            </a:pPr>
            <a:r>
              <a:rPr lang="en"/>
              <a:t>One charger per opportunity site • equal terminal energy</a:t>
            </a:r>
            <a:endParaRPr/>
          </a:p>
          <a:p>
            <a:pPr indent="0" lvl="0" marL="0" rtl="0" algn="l">
              <a:spcBef>
                <a:spcPts val="1200"/>
              </a:spcBef>
              <a:spcAft>
                <a:spcPts val="0"/>
              </a:spcAft>
              <a:buClr>
                <a:schemeClr val="dk1"/>
              </a:buClr>
              <a:buSzPts val="1100"/>
              <a:buFont typeface="Arial"/>
              <a:buNone/>
            </a:pPr>
            <a:r>
              <a:rPr lang="en"/>
              <a:t>Five buses and the same 62 trips, served exactly once</a:t>
            </a:r>
            <a:endParaRPr/>
          </a:p>
          <a:p>
            <a:pPr indent="0" lvl="0" marL="0" rtl="0" algn="l">
              <a:spcBef>
                <a:spcPts val="1200"/>
              </a:spcBef>
              <a:spcAft>
                <a:spcPts val="0"/>
              </a:spcAft>
              <a:buClr>
                <a:schemeClr val="dk1"/>
              </a:buClr>
              <a:buSzPts val="1100"/>
              <a:buFont typeface="Arial"/>
              <a:buNone/>
            </a:pPr>
            <a:r>
              <a:rPr lang="en"/>
              <a:t>Saved sequences differ: not fresh CG or a fee-only causal test.</a:t>
            </a:r>
            <a:endParaRPr/>
          </a:p>
          <a:p>
            <a:pPr indent="0" lvl="0" marL="0" rtl="0" algn="l">
              <a:spcBef>
                <a:spcPts val="1200"/>
              </a:spcBef>
              <a:spcAft>
                <a:spcPts val="0"/>
              </a:spcAft>
              <a:buClr>
                <a:schemeClr val="dk1"/>
              </a:buClr>
              <a:buSzPts val="1100"/>
              <a:buFont typeface="Arial"/>
              <a:buNone/>
            </a:pPr>
            <a:r>
              <a:rPr lang="en"/>
              <a:t>Static deadhead; platform/FIFO and crew rules remain unchecked.</a:t>
            </a:r>
            <a:endParaRPr/>
          </a:p>
          <a:p>
            <a:pPr indent="0" lvl="0" marL="0" rtl="0" algn="l">
              <a:spcBef>
                <a:spcPts val="1200"/>
              </a:spcBef>
              <a:spcAft>
                <a:spcPts val="0"/>
              </a:spcAft>
              <a:buClr>
                <a:schemeClr val="dk1"/>
              </a:buClr>
              <a:buSzPts val="1100"/>
              <a:buFont typeface="Arial"/>
              <a:buNone/>
            </a:pPr>
            <a:r>
              <a:rPr lang="en"/>
              <a:t>Capacity checked for these five buses, without the other duties.</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Matched k=5: charging costs and session counts</a:t>
            </a:r>
            <a:endParaRPr/>
          </a:p>
        </p:txBody>
      </p:sp>
      <p:graphicFrame>
        <p:nvGraphicFramePr>
          <p:cNvPr id="140" name="Google Shape;140;p26"/>
          <p:cNvGraphicFramePr/>
          <p:nvPr/>
        </p:nvGraphicFramePr>
        <p:xfrm>
          <a:off x="952500" y="1619250"/>
          <a:ext cx="3000000" cy="3000000"/>
        </p:xfrm>
        <a:graphic>
          <a:graphicData uri="http://schemas.openxmlformats.org/drawingml/2006/table">
            <a:tbl>
              <a:tblPr>
                <a:noFill/>
                <a:tableStyleId>{CD285A16-08EB-414C-A3FC-68C5544E96D4}</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en" sz="1800"/>
                        <a:t>Schedule</a:t>
                      </a:r>
                      <a:endParaRPr sz="1800"/>
                    </a:p>
                  </a:txBody>
                  <a:tcPr marT="91425" marB="91425" marR="91425" marL="91425"/>
                </a:tc>
                <a:tc>
                  <a:txBody>
                    <a:bodyPr/>
                    <a:lstStyle/>
                    <a:p>
                      <a:pPr indent="0" lvl="0" marL="0" rtl="0" algn="l">
                        <a:spcBef>
                          <a:spcPts val="0"/>
                        </a:spcBef>
                        <a:spcAft>
                          <a:spcPts val="0"/>
                        </a:spcAft>
                        <a:buNone/>
                      </a:pPr>
                      <a:r>
                        <a:rPr lang="en" sz="1800"/>
                        <a:t>Electricity</a:t>
                      </a:r>
                      <a:endParaRPr sz="1800"/>
                    </a:p>
                  </a:txBody>
                  <a:tcPr marT="91425" marB="91425" marR="91425" marL="91425"/>
                </a:tc>
                <a:tc>
                  <a:txBody>
                    <a:bodyPr/>
                    <a:lstStyle/>
                    <a:p>
                      <a:pPr indent="0" lvl="0" marL="0" rtl="0" algn="l">
                        <a:spcBef>
                          <a:spcPts val="0"/>
                        </a:spcBef>
                        <a:spcAft>
                          <a:spcPts val="0"/>
                        </a:spcAft>
                        <a:buNone/>
                      </a:pPr>
                      <a:r>
                        <a:rPr lang="en" sz="1800"/>
                        <a:t>Starts</a:t>
                      </a:r>
                      <a:endParaRPr sz="1800"/>
                    </a:p>
                  </a:txBody>
                  <a:tcPr marT="91425" marB="91425" marR="91425" marL="91425"/>
                </a:tc>
                <a:tc>
                  <a:txBody>
                    <a:bodyPr/>
                    <a:lstStyle/>
                    <a:p>
                      <a:pPr indent="0" lvl="0" marL="0" rtl="0" algn="l">
                        <a:spcBef>
                          <a:spcPts val="0"/>
                        </a:spcBef>
                        <a:spcAft>
                          <a:spcPts val="0"/>
                        </a:spcAft>
                        <a:buNone/>
                      </a:pPr>
                      <a:r>
                        <a:rPr lang="en" sz="1800"/>
                        <a:t>Start fees</a:t>
                      </a:r>
                      <a:endParaRPr sz="1800"/>
                    </a:p>
                  </a:txBody>
                  <a:tcPr marT="91425" marB="91425" marR="91425" marL="91425"/>
                </a:tc>
                <a:tc>
                  <a:txBody>
                    <a:bodyPr/>
                    <a:lstStyle/>
                    <a:p>
                      <a:pPr indent="0" lvl="0" marL="0" rtl="0" algn="l">
                        <a:spcBef>
                          <a:spcPts val="0"/>
                        </a:spcBef>
                        <a:spcAft>
                          <a:spcPts val="0"/>
                        </a:spcAft>
                        <a:buNone/>
                      </a:pPr>
                      <a:r>
                        <a:rPr lang="en" sz="1800"/>
                        <a:t>Total</a:t>
                      </a:r>
                      <a:endParaRPr sz="1800"/>
                    </a:p>
                  </a:txBody>
                  <a:tcPr marT="91425" marB="91425" marR="91425" marL="91425"/>
                </a:tc>
              </a:tr>
              <a:tr h="381000">
                <a:tc>
                  <a:txBody>
                    <a:bodyPr/>
                    <a:lstStyle/>
                    <a:p>
                      <a:pPr indent="0" lvl="0" marL="0" rtl="0" algn="l">
                        <a:spcBef>
                          <a:spcPts val="0"/>
                        </a:spcBef>
                        <a:spcAft>
                          <a:spcPts val="0"/>
                        </a:spcAft>
                        <a:buNone/>
                      </a:pPr>
                      <a:r>
                        <a:rPr lang="en" sz="1800"/>
                        <a:t>GIRO, fee 0</a:t>
                      </a:r>
                      <a:endParaRPr sz="1800"/>
                    </a:p>
                  </a:txBody>
                  <a:tcPr marT="91425" marB="91425" marR="91425" marL="91425"/>
                </a:tc>
                <a:tc>
                  <a:txBody>
                    <a:bodyPr/>
                    <a:lstStyle/>
                    <a:p>
                      <a:pPr indent="0" lvl="0" marL="0" rtl="0" algn="l">
                        <a:spcBef>
                          <a:spcPts val="0"/>
                        </a:spcBef>
                        <a:spcAft>
                          <a:spcPts val="0"/>
                        </a:spcAft>
                        <a:buNone/>
                      </a:pPr>
                      <a:r>
                        <a:rPr lang="en" sz="1800"/>
                        <a:t>230.64</a:t>
                      </a:r>
                      <a:endParaRPr sz="1800"/>
                    </a:p>
                  </a:txBody>
                  <a:tcPr marT="91425" marB="91425" marR="91425" marL="91425"/>
                </a:tc>
                <a:tc>
                  <a:txBody>
                    <a:bodyPr/>
                    <a:lstStyle/>
                    <a:p>
                      <a:pPr indent="0" lvl="0" marL="0" rtl="0" algn="l">
                        <a:spcBef>
                          <a:spcPts val="0"/>
                        </a:spcBef>
                        <a:spcAft>
                          <a:spcPts val="0"/>
                        </a:spcAft>
                        <a:buNone/>
                      </a:pPr>
                      <a:r>
                        <a:rPr lang="en" sz="1800"/>
                        <a:t>52</a:t>
                      </a:r>
                      <a:endParaRPr sz="1800"/>
                    </a:p>
                  </a:txBody>
                  <a:tcPr marT="91425" marB="91425" marR="91425" marL="91425"/>
                </a:tc>
                <a:tc>
                  <a:txBody>
                    <a:bodyPr/>
                    <a:lstStyle/>
                    <a:p>
                      <a:pPr indent="0" lvl="0" marL="0" rtl="0" algn="l">
                        <a:spcBef>
                          <a:spcPts val="0"/>
                        </a:spcBef>
                        <a:spcAft>
                          <a:spcPts val="0"/>
                        </a:spcAft>
                        <a:buNone/>
                      </a:pPr>
                      <a:r>
                        <a:rPr lang="en" sz="1800"/>
                        <a:t>0</a:t>
                      </a:r>
                      <a:endParaRPr sz="1800"/>
                    </a:p>
                  </a:txBody>
                  <a:tcPr marT="91425" marB="91425" marR="91425" marL="91425"/>
                </a:tc>
                <a:tc>
                  <a:txBody>
                    <a:bodyPr/>
                    <a:lstStyle/>
                    <a:p>
                      <a:pPr indent="0" lvl="0" marL="0" rtl="0" algn="l">
                        <a:spcBef>
                          <a:spcPts val="0"/>
                        </a:spcBef>
                        <a:spcAft>
                          <a:spcPts val="0"/>
                        </a:spcAft>
                        <a:buNone/>
                      </a:pPr>
                      <a:r>
                        <a:rPr lang="en" sz="1800"/>
                        <a:t>230.64</a:t>
                      </a:r>
                      <a:endParaRPr sz="1800"/>
                    </a:p>
                  </a:txBody>
                  <a:tcPr marT="91425" marB="91425" marR="91425" marL="91425"/>
                </a:tc>
              </a:tr>
              <a:tr h="381000">
                <a:tc>
                  <a:txBody>
                    <a:bodyPr/>
                    <a:lstStyle/>
                    <a:p>
                      <a:pPr indent="0" lvl="0" marL="0" rtl="0" algn="l">
                        <a:spcBef>
                          <a:spcPts val="0"/>
                        </a:spcBef>
                        <a:spcAft>
                          <a:spcPts val="0"/>
                        </a:spcAft>
                        <a:buNone/>
                      </a:pPr>
                      <a:r>
                        <a:rPr lang="en" sz="1800"/>
                        <a:t>Ours, fee 0</a:t>
                      </a:r>
                      <a:endParaRPr sz="1800"/>
                    </a:p>
                  </a:txBody>
                  <a:tcPr marT="91425" marB="91425" marR="91425" marL="91425"/>
                </a:tc>
                <a:tc>
                  <a:txBody>
                    <a:bodyPr/>
                    <a:lstStyle/>
                    <a:p>
                      <a:pPr indent="0" lvl="0" marL="0" rtl="0" algn="l">
                        <a:spcBef>
                          <a:spcPts val="0"/>
                        </a:spcBef>
                        <a:spcAft>
                          <a:spcPts val="0"/>
                        </a:spcAft>
                        <a:buNone/>
                      </a:pPr>
                      <a:r>
                        <a:rPr lang="en" sz="1800"/>
                        <a:t>158.71</a:t>
                      </a:r>
                      <a:endParaRPr sz="1800"/>
                    </a:p>
                  </a:txBody>
                  <a:tcPr marT="91425" marB="91425" marR="91425" marL="91425"/>
                </a:tc>
                <a:tc>
                  <a:txBody>
                    <a:bodyPr/>
                    <a:lstStyle/>
                    <a:p>
                      <a:pPr indent="0" lvl="0" marL="0" rtl="0" algn="l">
                        <a:spcBef>
                          <a:spcPts val="0"/>
                        </a:spcBef>
                        <a:spcAft>
                          <a:spcPts val="0"/>
                        </a:spcAft>
                        <a:buNone/>
                      </a:pPr>
                      <a:r>
                        <a:rPr lang="en" sz="1800"/>
                        <a:t>42</a:t>
                      </a:r>
                      <a:endParaRPr sz="1800"/>
                    </a:p>
                  </a:txBody>
                  <a:tcPr marT="91425" marB="91425" marR="91425" marL="91425"/>
                </a:tc>
                <a:tc>
                  <a:txBody>
                    <a:bodyPr/>
                    <a:lstStyle/>
                    <a:p>
                      <a:pPr indent="0" lvl="0" marL="0" rtl="0" algn="l">
                        <a:spcBef>
                          <a:spcPts val="0"/>
                        </a:spcBef>
                        <a:spcAft>
                          <a:spcPts val="0"/>
                        </a:spcAft>
                        <a:buNone/>
                      </a:pPr>
                      <a:r>
                        <a:rPr lang="en" sz="1800"/>
                        <a:t>0</a:t>
                      </a:r>
                      <a:endParaRPr sz="1800"/>
                    </a:p>
                  </a:txBody>
                  <a:tcPr marT="91425" marB="91425" marR="91425" marL="91425"/>
                </a:tc>
                <a:tc>
                  <a:txBody>
                    <a:bodyPr/>
                    <a:lstStyle/>
                    <a:p>
                      <a:pPr indent="0" lvl="0" marL="0" rtl="0" algn="l">
                        <a:spcBef>
                          <a:spcPts val="0"/>
                        </a:spcBef>
                        <a:spcAft>
                          <a:spcPts val="0"/>
                        </a:spcAft>
                        <a:buNone/>
                      </a:pPr>
                      <a:r>
                        <a:rPr lang="en" sz="1800"/>
                        <a:t>158.71</a:t>
                      </a:r>
                      <a:endParaRPr sz="1800"/>
                    </a:p>
                  </a:txBody>
                  <a:tcPr marT="91425" marB="91425" marR="91425" marL="91425"/>
                </a:tc>
              </a:tr>
              <a:tr h="381000">
                <a:tc>
                  <a:txBody>
                    <a:bodyPr/>
                    <a:lstStyle/>
                    <a:p>
                      <a:pPr indent="0" lvl="0" marL="0" rtl="0" algn="l">
                        <a:spcBef>
                          <a:spcPts val="0"/>
                        </a:spcBef>
                        <a:spcAft>
                          <a:spcPts val="0"/>
                        </a:spcAft>
                        <a:buNone/>
                      </a:pPr>
                      <a:r>
                        <a:rPr lang="en" sz="1800"/>
                        <a:t>GIRO, fee 5</a:t>
                      </a:r>
                      <a:endParaRPr sz="1800"/>
                    </a:p>
                  </a:txBody>
                  <a:tcPr marT="91425" marB="91425" marR="91425" marL="91425"/>
                </a:tc>
                <a:tc>
                  <a:txBody>
                    <a:bodyPr/>
                    <a:lstStyle/>
                    <a:p>
                      <a:pPr indent="0" lvl="0" marL="0" rtl="0" algn="l">
                        <a:spcBef>
                          <a:spcPts val="0"/>
                        </a:spcBef>
                        <a:spcAft>
                          <a:spcPts val="0"/>
                        </a:spcAft>
                        <a:buNone/>
                      </a:pPr>
                      <a:r>
                        <a:rPr lang="en" sz="1800"/>
                        <a:t>230.64</a:t>
                      </a:r>
                      <a:endParaRPr sz="1800"/>
                    </a:p>
                  </a:txBody>
                  <a:tcPr marT="91425" marB="91425" marR="91425" marL="91425"/>
                </a:tc>
                <a:tc>
                  <a:txBody>
                    <a:bodyPr/>
                    <a:lstStyle/>
                    <a:p>
                      <a:pPr indent="0" lvl="0" marL="0" rtl="0" algn="l">
                        <a:spcBef>
                          <a:spcPts val="0"/>
                        </a:spcBef>
                        <a:spcAft>
                          <a:spcPts val="0"/>
                        </a:spcAft>
                        <a:buNone/>
                      </a:pPr>
                      <a:r>
                        <a:rPr lang="en" sz="1800"/>
                        <a:t>52</a:t>
                      </a:r>
                      <a:endParaRPr sz="1800"/>
                    </a:p>
                  </a:txBody>
                  <a:tcPr marT="91425" marB="91425" marR="91425" marL="91425"/>
                </a:tc>
                <a:tc>
                  <a:txBody>
                    <a:bodyPr/>
                    <a:lstStyle/>
                    <a:p>
                      <a:pPr indent="0" lvl="0" marL="0" rtl="0" algn="l">
                        <a:spcBef>
                          <a:spcPts val="0"/>
                        </a:spcBef>
                        <a:spcAft>
                          <a:spcPts val="0"/>
                        </a:spcAft>
                        <a:buNone/>
                      </a:pPr>
                      <a:r>
                        <a:rPr lang="en" sz="1800"/>
                        <a:t>260</a:t>
                      </a:r>
                      <a:endParaRPr sz="1800"/>
                    </a:p>
                  </a:txBody>
                  <a:tcPr marT="91425" marB="91425" marR="91425" marL="91425"/>
                </a:tc>
                <a:tc>
                  <a:txBody>
                    <a:bodyPr/>
                    <a:lstStyle/>
                    <a:p>
                      <a:pPr indent="0" lvl="0" marL="0" rtl="0" algn="l">
                        <a:spcBef>
                          <a:spcPts val="0"/>
                        </a:spcBef>
                        <a:spcAft>
                          <a:spcPts val="0"/>
                        </a:spcAft>
                        <a:buNone/>
                      </a:pPr>
                      <a:r>
                        <a:rPr lang="en" sz="1800"/>
                        <a:t>490.64</a:t>
                      </a:r>
                      <a:endParaRPr sz="1800"/>
                    </a:p>
                  </a:txBody>
                  <a:tcPr marT="91425" marB="91425" marR="91425" marL="91425"/>
                </a:tc>
              </a:tr>
              <a:tr h="381000">
                <a:tc>
                  <a:txBody>
                    <a:bodyPr/>
                    <a:lstStyle/>
                    <a:p>
                      <a:pPr indent="0" lvl="0" marL="0" rtl="0" algn="l">
                        <a:spcBef>
                          <a:spcPts val="0"/>
                        </a:spcBef>
                        <a:spcAft>
                          <a:spcPts val="0"/>
                        </a:spcAft>
                        <a:buNone/>
                      </a:pPr>
                      <a:r>
                        <a:rPr lang="en" sz="1800"/>
                        <a:t>Ours, fee 5</a:t>
                      </a:r>
                      <a:endParaRPr sz="1800"/>
                    </a:p>
                  </a:txBody>
                  <a:tcPr marT="91425" marB="91425" marR="91425" marL="91425"/>
                </a:tc>
                <a:tc>
                  <a:txBody>
                    <a:bodyPr/>
                    <a:lstStyle/>
                    <a:p>
                      <a:pPr indent="0" lvl="0" marL="0" rtl="0" algn="l">
                        <a:spcBef>
                          <a:spcPts val="0"/>
                        </a:spcBef>
                        <a:spcAft>
                          <a:spcPts val="0"/>
                        </a:spcAft>
                        <a:buNone/>
                      </a:pPr>
                      <a:r>
                        <a:rPr lang="en" sz="1800"/>
                        <a:t>183.71</a:t>
                      </a:r>
                      <a:endParaRPr sz="1800"/>
                    </a:p>
                  </a:txBody>
                  <a:tcPr marT="91425" marB="91425" marR="91425" marL="91425"/>
                </a:tc>
                <a:tc>
                  <a:txBody>
                    <a:bodyPr/>
                    <a:lstStyle/>
                    <a:p>
                      <a:pPr indent="0" lvl="0" marL="0" rtl="0" algn="l">
                        <a:spcBef>
                          <a:spcPts val="0"/>
                        </a:spcBef>
                        <a:spcAft>
                          <a:spcPts val="0"/>
                        </a:spcAft>
                        <a:buNone/>
                      </a:pPr>
                      <a:r>
                        <a:rPr lang="en" sz="1800"/>
                        <a:t>30</a:t>
                      </a:r>
                      <a:endParaRPr sz="1800"/>
                    </a:p>
                  </a:txBody>
                  <a:tcPr marT="91425" marB="91425" marR="91425" marL="91425"/>
                </a:tc>
                <a:tc>
                  <a:txBody>
                    <a:bodyPr/>
                    <a:lstStyle/>
                    <a:p>
                      <a:pPr indent="0" lvl="0" marL="0" rtl="0" algn="l">
                        <a:spcBef>
                          <a:spcPts val="0"/>
                        </a:spcBef>
                        <a:spcAft>
                          <a:spcPts val="0"/>
                        </a:spcAft>
                        <a:buNone/>
                      </a:pPr>
                      <a:r>
                        <a:rPr lang="en" sz="1800"/>
                        <a:t>150</a:t>
                      </a:r>
                      <a:endParaRPr sz="1800"/>
                    </a:p>
                  </a:txBody>
                  <a:tcPr marT="91425" marB="91425" marR="91425" marL="91425"/>
                </a:tc>
                <a:tc>
                  <a:txBody>
                    <a:bodyPr/>
                    <a:lstStyle/>
                    <a:p>
                      <a:pPr indent="0" lvl="0" marL="0" rtl="0" algn="l">
                        <a:spcBef>
                          <a:spcPts val="0"/>
                        </a:spcBef>
                        <a:spcAft>
                          <a:spcPts val="0"/>
                        </a:spcAft>
                        <a:buNone/>
                      </a:pPr>
                      <a:r>
                        <a:rPr lang="en" sz="1800"/>
                        <a:t>333.71</a:t>
                      </a:r>
                      <a:endParaRPr sz="1800"/>
                    </a:p>
                  </a:txBody>
                  <a:tcPr marT="91425" marB="91425" marR="91425" marL="91425"/>
                </a:tc>
              </a:tr>
            </a:tbl>
          </a:graphicData>
        </a:graphic>
      </p:graphicFrame>
      <p:sp>
        <p:nvSpPr>
          <p:cNvPr id="141" name="Google Shape;141;p26"/>
          <p:cNvSpPr txBox="1"/>
          <p:nvPr/>
        </p:nvSpPr>
        <p:spPr>
          <a:xfrm>
            <a:off x="411025" y="4343650"/>
            <a:ext cx="8365200" cy="7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dk2"/>
                </a:solidFill>
              </a:rPr>
              <a:t>Tariff cost units; five-bus totals. Same terminal energy.</a:t>
            </a:r>
            <a:endParaRPr sz="1500">
              <a:solidFill>
                <a:schemeClr val="dk2"/>
              </a:solidFill>
            </a:endParaRPr>
          </a:p>
          <a:p>
            <a:pPr indent="0" lvl="0" marL="0" rtl="0" algn="l">
              <a:spcBef>
                <a:spcPts val="0"/>
              </a:spcBef>
              <a:spcAft>
                <a:spcPts val="0"/>
              </a:spcAft>
              <a:buClr>
                <a:schemeClr val="dk1"/>
              </a:buClr>
              <a:buSzPts val="1100"/>
              <a:buFont typeface="Arial"/>
              <a:buNone/>
            </a:pPr>
            <a:r>
              <a:rPr lang="en" sz="1500">
                <a:solidFill>
                  <a:schemeClr val="dk2"/>
                </a:solidFill>
              </a:rPr>
              <a:t>Original charging windows leave no material fixed-duty saving.</a:t>
            </a:r>
            <a:endParaRPr sz="1500">
              <a:solidFill>
                <a:schemeClr val="dk2"/>
              </a:solidFill>
            </a:endParaRPr>
          </a:p>
          <a:p>
            <a:pPr indent="0" lvl="0" marL="0" rtl="0" algn="l">
              <a:spcBef>
                <a:spcPts val="0"/>
              </a:spcBef>
              <a:spcAft>
                <a:spcPts val="0"/>
              </a:spcAft>
              <a:buClr>
                <a:schemeClr val="dk1"/>
              </a:buClr>
              <a:buSzPts val="1100"/>
              <a:buFont typeface="Arial"/>
              <a:buNone/>
            </a:pPr>
            <a:r>
              <a:rPr lang="en" sz="1500">
                <a:solidFill>
                  <a:schemeClr val="dk2"/>
                </a:solidFill>
              </a:rPr>
              <a:t>New sequences: post-hoc charging optimization, not a fresh CG test.</a:t>
            </a:r>
            <a:endParaRPr sz="1500">
              <a:solidFill>
                <a:schemeClr val="dk2"/>
              </a:solidFill>
            </a:endParaRPr>
          </a:p>
          <a:p>
            <a:pPr indent="0" lvl="0" marL="0" rtl="0" algn="l">
              <a:spcBef>
                <a:spcPts val="0"/>
              </a:spcBef>
              <a:spcAft>
                <a:spcPts val="0"/>
              </a:spcAft>
              <a:buNone/>
            </a:pPr>
            <a:r>
              <a:t/>
            </a:r>
            <a:endParaRPr sz="15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Fresh versus sequential: what the times mean</a:t>
            </a:r>
            <a:endParaRPr/>
          </a:p>
        </p:txBody>
      </p:sp>
      <p:sp>
        <p:nvSpPr>
          <p:cNvPr id="147" name="Google Shape;147;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Sequential CG time includes every earlier k in that chain.</a:t>
            </a:r>
            <a:endParaRPr/>
          </a:p>
          <a:p>
            <a:pPr indent="0" lvl="0" marL="0" rtl="0" algn="l">
              <a:spcBef>
                <a:spcPts val="1200"/>
              </a:spcBef>
              <a:spcAft>
                <a:spcPts val="0"/>
              </a:spcAft>
              <a:buClr>
                <a:schemeClr val="dk1"/>
              </a:buClr>
              <a:buSzPts val="1100"/>
              <a:buFont typeface="Arial"/>
              <a:buNone/>
            </a:pPr>
            <a:r>
              <a:rPr lang="en"/>
              <a:t>Fresh CG time is one solve on the final trip set.</a:t>
            </a:r>
            <a:endParaRPr/>
          </a:p>
          <a:p>
            <a:pPr indent="0" lvl="0" marL="0" rtl="0" algn="l">
              <a:spcBef>
                <a:spcPts val="1200"/>
              </a:spcBef>
              <a:spcAft>
                <a:spcPts val="0"/>
              </a:spcAft>
              <a:buClr>
                <a:schemeClr val="dk1"/>
              </a:buClr>
              <a:buSzPts val="1100"/>
              <a:buFont typeface="Arial"/>
              <a:buNone/>
            </a:pPr>
            <a:r>
              <a:rPr lang="en"/>
              <a:t>Both reach the same LP objective to numerical tolerance.</a:t>
            </a:r>
            <a:endParaRPr/>
          </a:p>
          <a:p>
            <a:pPr indent="0" lvl="0" marL="0" rtl="0" algn="l">
              <a:spcBef>
                <a:spcPts val="1200"/>
              </a:spcBef>
              <a:spcAft>
                <a:spcPts val="0"/>
              </a:spcAft>
              <a:buClr>
                <a:schemeClr val="dk1"/>
              </a:buClr>
              <a:buSzPts val="1100"/>
              <a:buFont typeface="Arial"/>
              <a:buNone/>
            </a:pPr>
            <a:r>
              <a:rPr lang="en"/>
              <a:t>Their saved route pools give very different integer solutions.</a:t>
            </a:r>
            <a:endParaRPr/>
          </a:p>
          <a:p>
            <a:pPr indent="0" lvl="0" marL="0" rtl="0" algn="l">
              <a:spcBef>
                <a:spcPts val="1200"/>
              </a:spcBef>
              <a:spcAft>
                <a:spcPts val="0"/>
              </a:spcAft>
              <a:buClr>
                <a:schemeClr val="dk1"/>
              </a:buClr>
              <a:buSzPts val="1100"/>
              <a:buFont typeface="Arial"/>
              <a:buNone/>
            </a:pPr>
            <a:r>
              <a:rPr lang="en"/>
              <a:t>The MIP plots show the final k only, split into fleet and charging.</a:t>
            </a:r>
            <a:endParaRPr/>
          </a:p>
          <a:p>
            <a:pPr indent="0" lvl="0" marL="0" rtl="0" algn="l">
              <a:spcBef>
                <a:spcPts val="1200"/>
              </a:spcBef>
              <a:spcAft>
                <a:spcPts val="0"/>
              </a:spcAft>
              <a:buClr>
                <a:schemeClr val="dk1"/>
              </a:buClr>
              <a:buSzPts val="1100"/>
              <a:buFont typeface="Arial"/>
              <a:buNone/>
            </a:pPr>
            <a:r>
              <a:rPr lang="en"/>
              <a:t>One hour is the allowance. A proved optimum can stop earlier.</a:t>
            </a:r>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Chain 1: computation and solution quality</a:t>
            </a:r>
            <a:endParaRPr/>
          </a:p>
        </p:txBody>
      </p:sp>
      <p:pic>
        <p:nvPicPr>
          <p:cNvPr id="153" name="Google Shape;153;p28" title="chain1_charts.png"/>
          <p:cNvPicPr preferRelativeResize="0"/>
          <p:nvPr/>
        </p:nvPicPr>
        <p:blipFill rotWithShape="1">
          <a:blip r:embed="rId3">
            <a:alphaModFix/>
          </a:blip>
          <a:srcRect b="0" l="10" r="10" t="0"/>
          <a:stretch/>
        </p:blipFill>
        <p:spPr>
          <a:xfrm>
            <a:off x="347472" y="1042416"/>
            <a:ext cx="8458199" cy="403598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Chain 2: computation and solution quality</a:t>
            </a:r>
            <a:endParaRPr/>
          </a:p>
        </p:txBody>
      </p:sp>
      <p:pic>
        <p:nvPicPr>
          <p:cNvPr id="159" name="Google Shape;159;p29" title="chain2_charts.png"/>
          <p:cNvPicPr preferRelativeResize="0"/>
          <p:nvPr/>
        </p:nvPicPr>
        <p:blipFill rotWithShape="1">
          <a:blip r:embed="rId3">
            <a:alphaModFix/>
          </a:blip>
          <a:srcRect b="0" l="10" r="10" t="0"/>
          <a:stretch/>
        </p:blipFill>
        <p:spPr>
          <a:xfrm>
            <a:off x="347472" y="1042416"/>
            <a:ext cx="8458199" cy="403598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Chain 3: computation and solution quality</a:t>
            </a:r>
            <a:endParaRPr/>
          </a:p>
        </p:txBody>
      </p:sp>
      <p:pic>
        <p:nvPicPr>
          <p:cNvPr id="165" name="Google Shape;165;p30" title="chain3_charts.png"/>
          <p:cNvPicPr preferRelativeResize="0"/>
          <p:nvPr/>
        </p:nvPicPr>
        <p:blipFill rotWithShape="1">
          <a:blip r:embed="rId3">
            <a:alphaModFix/>
          </a:blip>
          <a:srcRect b="0" l="10" r="10" t="0"/>
          <a:stretch/>
        </p:blipFill>
        <p:spPr>
          <a:xfrm>
            <a:off x="347472" y="1042416"/>
            <a:ext cx="8458199" cy="403598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Chain 4: computation and solution quality</a:t>
            </a:r>
            <a:endParaRPr/>
          </a:p>
        </p:txBody>
      </p:sp>
      <p:pic>
        <p:nvPicPr>
          <p:cNvPr id="171" name="Google Shape;171;p31" title="chain4_charts.png"/>
          <p:cNvPicPr preferRelativeResize="0"/>
          <p:nvPr/>
        </p:nvPicPr>
        <p:blipFill rotWithShape="1">
          <a:blip r:embed="rId3">
            <a:alphaModFix/>
          </a:blip>
          <a:srcRect b="0" l="10" r="10" t="0"/>
          <a:stretch/>
        </p:blipFill>
        <p:spPr>
          <a:xfrm>
            <a:off x="347472" y="1042416"/>
            <a:ext cx="8458199" cy="403598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Chain 5: computation and solution quality</a:t>
            </a:r>
            <a:endParaRPr/>
          </a:p>
        </p:txBody>
      </p:sp>
      <p:pic>
        <p:nvPicPr>
          <p:cNvPr id="177" name="Google Shape;177;p32" title="chain5_charts.png"/>
          <p:cNvPicPr preferRelativeResize="0"/>
          <p:nvPr/>
        </p:nvPicPr>
        <p:blipFill rotWithShape="1">
          <a:blip r:embed="rId3">
            <a:alphaModFix/>
          </a:blip>
          <a:srcRect b="0" l="10" r="10" t="0"/>
          <a:stretch/>
        </p:blipFill>
        <p:spPr>
          <a:xfrm>
            <a:off x="347472" y="1042416"/>
            <a:ext cx="8458199" cy="403598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Chain 6: computation and solution quality</a:t>
            </a:r>
            <a:endParaRPr/>
          </a:p>
        </p:txBody>
      </p:sp>
      <p:pic>
        <p:nvPicPr>
          <p:cNvPr id="183" name="Google Shape;183;p33" title="chain6_charts.png"/>
          <p:cNvPicPr preferRelativeResize="0"/>
          <p:nvPr/>
        </p:nvPicPr>
        <p:blipFill>
          <a:blip r:embed="rId3">
            <a:alphaModFix/>
          </a:blip>
          <a:stretch>
            <a:fillRect/>
          </a:stretch>
        </p:blipFill>
        <p:spPr>
          <a:xfrm>
            <a:off x="347472" y="1042416"/>
            <a:ext cx="8458199" cy="403598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Fleet search is faster; charging uses the remaining time</a:t>
            </a:r>
            <a:endParaRPr/>
          </a:p>
        </p:txBody>
      </p:sp>
      <p:sp>
        <p:nvSpPr>
          <p:cNvPr id="189" name="Google Shape;189;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Chain 1, k=8: fresh proves 9 buses in 26.3 minutes.</a:t>
            </a:r>
            <a:endParaRPr/>
          </a:p>
          <a:p>
            <a:pPr indent="0" lvl="0" marL="0" rtl="0" algn="l">
              <a:spcBef>
                <a:spcPts val="1200"/>
              </a:spcBef>
              <a:spcAft>
                <a:spcPts val="0"/>
              </a:spcAft>
              <a:buClr>
                <a:schemeClr val="dk1"/>
              </a:buClr>
              <a:buSzPts val="1100"/>
              <a:buFont typeface="Arial"/>
              <a:buNone/>
            </a:pPr>
            <a:r>
              <a:rPr lang="en"/>
              <a:t>Sequential proves 8 buses in 27 seconds.</a:t>
            </a:r>
            <a:endParaRPr/>
          </a:p>
          <a:p>
            <a:pPr indent="0" lvl="0" marL="0" rtl="0" algn="l">
              <a:spcBef>
                <a:spcPts val="1200"/>
              </a:spcBef>
              <a:spcAft>
                <a:spcPts val="0"/>
              </a:spcAft>
              <a:buClr>
                <a:schemeClr val="dk1"/>
              </a:buClr>
              <a:buSzPts val="1100"/>
              <a:buFont typeface="Arial"/>
              <a:buNone/>
            </a:pPr>
            <a:r>
              <a:rPr lang="en"/>
              <a:t>Both then run charging optimization until nearly one hour.</a:t>
            </a:r>
            <a:endParaRPr/>
          </a:p>
          <a:p>
            <a:pPr indent="0" lvl="0" marL="0" rtl="0" algn="l">
              <a:spcBef>
                <a:spcPts val="1200"/>
              </a:spcBef>
              <a:spcAft>
                <a:spcPts val="0"/>
              </a:spcAft>
              <a:buClr>
                <a:schemeClr val="dk1"/>
              </a:buClr>
              <a:buSzPts val="1100"/>
              <a:buFont typeface="Arial"/>
              <a:buNone/>
            </a:pPr>
            <a:r>
              <a:rPr lang="en"/>
              <a:t>Across 24 cases: median fleet search is 30 minutes fresh,</a:t>
            </a:r>
            <a:endParaRPr/>
          </a:p>
          <a:p>
            <a:pPr indent="0" lvl="0" marL="0" rtl="0" algn="l">
              <a:spcBef>
                <a:spcPts val="1200"/>
              </a:spcBef>
              <a:spcAft>
                <a:spcPts val="0"/>
              </a:spcAft>
              <a:buClr>
                <a:schemeClr val="dk1"/>
              </a:buClr>
              <a:buSzPts val="1100"/>
              <a:buFont typeface="Arial"/>
              <a:buNone/>
            </a:pPr>
            <a:r>
              <a:rPr lang="en"/>
              <a:t>versus 5.31 seconds sequential. All sequential fleets are proved.</a:t>
            </a:r>
            <a:endParaRPr/>
          </a:p>
          <a:p>
            <a:pPr indent="0" lvl="0" marL="0" rtl="0" algn="l">
              <a:spcBef>
                <a:spcPts val="1200"/>
              </a:spcBef>
              <a:spcAft>
                <a:spcPts val="0"/>
              </a:spcAft>
              <a:buClr>
                <a:schemeClr val="dk1"/>
              </a:buClr>
              <a:buSzPts val="1100"/>
              <a:buFont typeface="Arial"/>
              <a:buNone/>
            </a:pPr>
            <a:r>
              <a:rPr lang="en"/>
              <a:t>Fresh k=5 is already fast: every MIP finishes within 3 minutes.</a:t>
            </a:r>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236.44 kWh: all 195 failures can be repaired</a:t>
            </a:r>
            <a:endParaRPr/>
          </a:p>
        </p:txBody>
      </p:sp>
      <p:sp>
        <p:nvSpPr>
          <p:cNvPr id="195" name="Google Shape;195;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
              <a:t>194 routes need only a charging-amount adjustment inside</a:t>
            </a:r>
            <a:endParaRPr/>
          </a:p>
          <a:p>
            <a:pPr indent="0" lvl="0" marL="0" rtl="0" algn="l">
              <a:spcBef>
                <a:spcPts val="1200"/>
              </a:spcBef>
              <a:spcAft>
                <a:spcPts val="0"/>
              </a:spcAft>
              <a:buClr>
                <a:schemeClr val="dk1"/>
              </a:buClr>
              <a:buSzPts val="1100"/>
              <a:buFont typeface="Arial"/>
              <a:buNone/>
            </a:pPr>
            <a:r>
              <a:rPr lang="en"/>
              <a:t>the original intervals. One needs a 0.15-second extension.</a:t>
            </a:r>
            <a:endParaRPr/>
          </a:p>
          <a:p>
            <a:pPr indent="0" lvl="0" marL="0" rtl="0" algn="l">
              <a:spcBef>
                <a:spcPts val="1200"/>
              </a:spcBef>
              <a:spcAft>
                <a:spcPts val="0"/>
              </a:spcAft>
              <a:buClr>
                <a:schemeClr val="dk1"/>
              </a:buClr>
              <a:buSzPts val="1100"/>
              <a:buFont typeface="Arial"/>
              <a:buNone/>
            </a:pPr>
            <a:r>
              <a:rPr lang="en"/>
              <a:t>All 487 route occurrences pass independent replay.</a:t>
            </a:r>
            <a:endParaRPr/>
          </a:p>
          <a:p>
            <a:pPr indent="0" lvl="0" marL="0" rtl="0" algn="l">
              <a:spcBef>
                <a:spcPts val="1200"/>
              </a:spcBef>
              <a:spcAft>
                <a:spcPts val="0"/>
              </a:spcAft>
              <a:buClr>
                <a:schemeClr val="dk1"/>
              </a:buClr>
              <a:buSzPts val="1100"/>
              <a:buFont typeface="Arial"/>
              <a:buNone/>
            </a:pPr>
            <a:r>
              <a:rPr lang="en"/>
              <a:t>Trips, bus counts, charging stops and start counts stay fixed.</a:t>
            </a:r>
            <a:endParaRPr/>
          </a:p>
          <a:p>
            <a:pPr indent="0" lvl="0" marL="0" rtl="0" algn="l">
              <a:spcBef>
                <a:spcPts val="1200"/>
              </a:spcBef>
              <a:spcAft>
                <a:spcPts val="0"/>
              </a:spcAft>
              <a:buClr>
                <a:schemeClr val="dk1"/>
              </a:buClr>
              <a:buSzPts val="1100"/>
              <a:buFont typeface="Arial"/>
              <a:buNone/>
            </a:pPr>
            <a:r>
              <a:rPr lang="en"/>
              <a:t>Median net extra energy per repaired route: 2.02 kWh.</a:t>
            </a:r>
            <a:endParaRPr/>
          </a:p>
          <a:p>
            <a:pPr indent="0" lvl="0" marL="0" rtl="0" algn="l">
              <a:spcBef>
                <a:spcPts val="1200"/>
              </a:spcBef>
              <a:spcAft>
                <a:spcPts val="0"/>
              </a:spcAft>
              <a:buClr>
                <a:schemeClr val="dk1"/>
              </a:buClr>
              <a:buSzPts val="1100"/>
              <a:buFont typeface="Arial"/>
              <a:buNone/>
            </a:pPr>
            <a:r>
              <a:rPr lang="en"/>
              <a:t>Capacity-only test: 240 kW, zero reserve, no shared capacity.</a:t>
            </a:r>
            <a:endParaRPr/>
          </a:p>
          <a:p>
            <a:pPr indent="0" lvl="0" marL="0" rtl="0" algn="l">
              <a:spcBef>
                <a:spcPts val="1200"/>
              </a:spcBef>
              <a:spcAft>
                <a:spcPts val="0"/>
              </a:spcAft>
              <a:buClr>
                <a:schemeClr val="dk1"/>
              </a:buClr>
              <a:buSzPts val="1100"/>
              <a:buFont typeface="Arial"/>
              <a:buNone/>
            </a:pPr>
            <a:r>
              <a:rPr lang="en"/>
              <a:t>Continuous repair establishes feasibility, not a new LP proof.</a:t>
            </a:r>
            <a:endParaRPr/>
          </a:p>
          <a:p>
            <a:pPr indent="0" lvl="0" marL="0" rtl="0" algn="l">
              <a:spcBef>
                <a:spcPts val="120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Integer-directed pricing: how the search works</a:t>
            </a:r>
            <a:endParaRPr/>
          </a:p>
        </p:txBody>
      </p:sp>
      <p:sp>
        <p:nvSpPr>
          <p:cNvPr id="201" name="Google Shape;201;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
              <a:t>Start from the fresh pool and impose the target fleet cap K = 8.</a:t>
            </a:r>
            <a:endParaRPr/>
          </a:p>
          <a:p>
            <a:pPr indent="0" lvl="0" marL="0" rtl="0" algn="l">
              <a:spcBef>
                <a:spcPts val="1200"/>
              </a:spcBef>
              <a:spcAft>
                <a:spcPts val="0"/>
              </a:spcAft>
              <a:buClr>
                <a:schemeClr val="dk1"/>
              </a:buClr>
              <a:buSzPts val="1100"/>
              <a:buFont typeface="Arial"/>
              <a:buNone/>
            </a:pPr>
            <a:r>
              <a:rPr lang="en"/>
              <a:t>Fix one promising fractional route at xᵣ = 1.</a:t>
            </a:r>
            <a:endParaRPr/>
          </a:p>
          <a:p>
            <a:pPr indent="0" lvl="0" marL="0" rtl="0" algn="l">
              <a:spcBef>
                <a:spcPts val="1200"/>
              </a:spcBef>
              <a:spcAft>
                <a:spcPts val="0"/>
              </a:spcAft>
              <a:buClr>
                <a:schemeClr val="dk1"/>
              </a:buClr>
              <a:buSzPts val="1100"/>
              <a:buFont typeface="Arial"/>
              <a:buNone/>
            </a:pPr>
            <a:r>
              <a:rPr lang="en"/>
              <a:t>Re-solve the LP. Remaining trips and bus slots change the duals.</a:t>
            </a:r>
            <a:endParaRPr/>
          </a:p>
          <a:p>
            <a:pPr indent="0" lvl="0" marL="0" rtl="0" algn="l">
              <a:spcBef>
                <a:spcPts val="1200"/>
              </a:spcBef>
              <a:spcAft>
                <a:spcPts val="0"/>
              </a:spcAft>
              <a:buClr>
                <a:schemeClr val="dk1"/>
              </a:buClr>
              <a:buSzPts val="1100"/>
              <a:buFont typeface="Arial"/>
              <a:buNone/>
            </a:pPr>
            <a:r>
              <a:rPr lang="en"/>
              <a:t>Price new routes that help complete this partial integer choice.</a:t>
            </a:r>
            <a:endParaRPr/>
          </a:p>
          <a:p>
            <a:pPr indent="0" lvl="0" marL="0" rtl="0" algn="l">
              <a:spcBef>
                <a:spcPts val="1200"/>
              </a:spcBef>
              <a:spcAft>
                <a:spcPts val="0"/>
              </a:spcAft>
              <a:buClr>
                <a:schemeClr val="dk1"/>
              </a:buClr>
              <a:buSzPts val="1100"/>
              <a:buFont typeface="Arial"/>
              <a:buNone/>
            </a:pPr>
            <a:r>
              <a:rPr lang="en"/>
              <a:t>Fix another route, or release a fixing and try an alternative.</a:t>
            </a:r>
            <a:endParaRPr/>
          </a:p>
          <a:p>
            <a:pPr indent="0" lvl="0" marL="0" rtl="0" algn="l">
              <a:spcBef>
                <a:spcPts val="1200"/>
              </a:spcBef>
              <a:spcAft>
                <a:spcPts val="0"/>
              </a:spcAft>
              <a:buClr>
                <a:schemeClr val="dk1"/>
              </a:buClr>
              <a:buSzPts val="1100"/>
              <a:buFont typeface="Arial"/>
              <a:buNone/>
            </a:pPr>
            <a:r>
              <a:rPr lang="en"/>
              <a:t>Keep new columns and pass any discovered cover to the final MIP.</a:t>
            </a:r>
            <a:endParaRPr/>
          </a:p>
          <a:p>
            <a:pPr indent="0" lvl="0" marL="0" rtl="0" algn="l">
              <a:spcBef>
                <a:spcPts val="1200"/>
              </a:spcBef>
              <a:spcAft>
                <a:spcPts val="0"/>
              </a:spcAft>
              <a:buClr>
                <a:schemeClr val="dk1"/>
              </a:buClr>
              <a:buSzPts val="1100"/>
              <a:buFont typeface="Arial"/>
              <a:buNone/>
            </a:pPr>
            <a:r>
              <a:rPr lang="en"/>
              <a:t>No known sequential routes enter this test. The search is heuristic.</a:t>
            </a:r>
            <a:endParaRPr/>
          </a:p>
          <a:p>
            <a:pPr indent="0" lvl="0" marL="0" rtl="0" algn="l">
              <a:spcBef>
                <a:spcPts val="120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a useful integer route can have positive reduced cost</a:t>
            </a:r>
            <a:endParaRPr/>
          </a:p>
        </p:txBody>
      </p:sp>
      <p:sp>
        <p:nvSpPr>
          <p:cNvPr id="207" name="Google Shape;207;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
              <a:t>Covering LP: min cᵀx, subject to Ax ≥ 1 and x ≥ 0.</a:t>
            </a:r>
            <a:endParaRPr/>
          </a:p>
          <a:p>
            <a:pPr indent="0" lvl="0" marL="0" rtl="0" algn="l">
              <a:spcBef>
                <a:spcPts val="1200"/>
              </a:spcBef>
              <a:spcAft>
                <a:spcPts val="0"/>
              </a:spcAft>
              <a:buClr>
                <a:schemeClr val="dk1"/>
              </a:buClr>
              <a:buSzPts val="1100"/>
              <a:buFont typeface="Arial"/>
              <a:buNone/>
            </a:pPr>
            <a:r>
              <a:rPr lang="en"/>
              <a:t>Dual: max 1ᵀπ, subject to Aᵀπ ≤ c and π ≥ 0.</a:t>
            </a:r>
            <a:endParaRPr/>
          </a:p>
          <a:p>
            <a:pPr indent="0" lvl="0" marL="0" rtl="0" algn="l">
              <a:spcBef>
                <a:spcPts val="1200"/>
              </a:spcBef>
              <a:spcAft>
                <a:spcPts val="0"/>
              </a:spcAft>
              <a:buClr>
                <a:schemeClr val="dk1"/>
              </a:buClr>
              <a:buSzPts val="1100"/>
              <a:buFont typeface="Arial"/>
              <a:buNone/>
            </a:pPr>
            <a:r>
              <a:rPr lang="en"/>
              <a:t>For any integer cover y: cᵀy − zLP = rᵀy + πᵀ(Ay − 1),</a:t>
            </a:r>
            <a:endParaRPr/>
          </a:p>
          <a:p>
            <a:pPr indent="0" lvl="0" marL="0" rtl="0" algn="l">
              <a:spcBef>
                <a:spcPts val="1200"/>
              </a:spcBef>
              <a:spcAft>
                <a:spcPts val="0"/>
              </a:spcAft>
              <a:buClr>
                <a:schemeClr val="dk1"/>
              </a:buClr>
              <a:buSzPts val="1100"/>
              <a:buFont typeface="Arial"/>
              <a:buNone/>
            </a:pPr>
            <a:r>
              <a:rPr lang="en"/>
              <a:t>where r = c − Aᵀπ is the vector of route reduced costs.</a:t>
            </a:r>
            <a:endParaRPr/>
          </a:p>
          <a:p>
            <a:pPr indent="0" lvl="0" marL="0" rtl="0" algn="l">
              <a:spcBef>
                <a:spcPts val="1200"/>
              </a:spcBef>
              <a:spcAft>
                <a:spcPts val="0"/>
              </a:spcAft>
              <a:buClr>
                <a:schemeClr val="dk1"/>
              </a:buClr>
              <a:buSzPts val="1100"/>
              <a:buFont typeface="Arial"/>
              <a:buNone/>
            </a:pPr>
            <a:r>
              <a:rPr lang="en"/>
              <a:t>C1’s eight-route witness: 96.272 = 72.142 + 24.130.</a:t>
            </a:r>
            <a:endParaRPr/>
          </a:p>
          <a:p>
            <a:pPr indent="0" lvl="0" marL="0" rtl="0" algn="l">
              <a:spcBef>
                <a:spcPts val="1200"/>
              </a:spcBef>
              <a:spcAft>
                <a:spcPts val="0"/>
              </a:spcAft>
              <a:buClr>
                <a:schemeClr val="dk1"/>
              </a:buClr>
              <a:buSzPts val="1100"/>
              <a:buFont typeface="Arial"/>
              <a:buNone/>
            </a:pPr>
            <a:r>
              <a:rPr lang="en"/>
              <a:t>The integer cover pays a small premium above the fractional LP.</a:t>
            </a:r>
            <a:endParaRPr/>
          </a:p>
          <a:p>
            <a:pPr indent="0" lvl="0" marL="0" rtl="0" algn="l">
              <a:spcBef>
                <a:spcPts val="1200"/>
              </a:spcBef>
              <a:spcAft>
                <a:spcPts val="0"/>
              </a:spcAft>
              <a:buClr>
                <a:schemeClr val="dk1"/>
              </a:buClr>
              <a:buSzPts val="1100"/>
              <a:buFont typeface="Arial"/>
              <a:buNone/>
            </a:pPr>
            <a:r>
              <a:rPr lang="en"/>
              <a:t>Those </a:t>
            </a:r>
            <a:r>
              <a:rPr lang="en"/>
              <a:t>positive reduced-cost</a:t>
            </a:r>
            <a:r>
              <a:rPr lang="en"/>
              <a:t> routes can still reduce the integer fleet.</a:t>
            </a:r>
            <a:endParaRPr/>
          </a:p>
          <a:p>
            <a:pPr indent="0" lvl="0" marL="0" rtl="0" algn="l">
              <a:spcBef>
                <a:spcPts val="120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Fixing routes changes the pricing problem</a:t>
            </a:r>
            <a:endParaRPr/>
          </a:p>
        </p:txBody>
      </p:sp>
      <p:sp>
        <p:nvSpPr>
          <p:cNvPr id="213" name="Google Shape;213;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
              <a:t>For fixed routes F, free routes must cover 1 − A_F1,</a:t>
            </a:r>
            <a:endParaRPr/>
          </a:p>
          <a:p>
            <a:pPr indent="0" lvl="0" marL="0" rtl="0" algn="l">
              <a:spcBef>
                <a:spcPts val="1200"/>
              </a:spcBef>
              <a:spcAft>
                <a:spcPts val="0"/>
              </a:spcAft>
              <a:buClr>
                <a:schemeClr val="dk1"/>
              </a:buClr>
              <a:buSzPts val="1100"/>
              <a:buFont typeface="Arial"/>
              <a:buNone/>
            </a:pPr>
            <a:r>
              <a:rPr lang="en"/>
              <a:t>using at most K − |F| remaining bus slots.</a:t>
            </a:r>
            <a:endParaRPr/>
          </a:p>
          <a:p>
            <a:pPr indent="0" lvl="0" marL="0" rtl="0" algn="l">
              <a:spcBef>
                <a:spcPts val="1200"/>
              </a:spcBef>
              <a:spcAft>
                <a:spcPts val="0"/>
              </a:spcAft>
              <a:buClr>
                <a:schemeClr val="dk1"/>
              </a:buClr>
              <a:buSzPts val="1100"/>
              <a:buFont typeface="Arial"/>
              <a:buNone/>
            </a:pPr>
            <a:r>
              <a:rPr lang="en"/>
              <a:t>New reduced cost: rᵣ = cᵣ − aᵣᵀπ − μ, with μ ≤ 0.</a:t>
            </a:r>
            <a:endParaRPr/>
          </a:p>
          <a:p>
            <a:pPr indent="0" lvl="0" marL="0" rtl="0" algn="l">
              <a:spcBef>
                <a:spcPts val="1200"/>
              </a:spcBef>
              <a:spcAft>
                <a:spcPts val="0"/>
              </a:spcAft>
              <a:buClr>
                <a:schemeClr val="dk1"/>
              </a:buClr>
              <a:buSzPts val="1100"/>
              <a:buFont typeface="Arial"/>
              <a:buNone/>
            </a:pPr>
            <a:r>
              <a:rPr lang="en"/>
              <a:t>π prices uncovered service; μ prices the remaining fleet cap.</a:t>
            </a:r>
            <a:endParaRPr/>
          </a:p>
          <a:p>
            <a:pPr indent="0" lvl="0" marL="0" rtl="0" algn="l">
              <a:spcBef>
                <a:spcPts val="1200"/>
              </a:spcBef>
              <a:spcAft>
                <a:spcPts val="0"/>
              </a:spcAft>
              <a:buClr>
                <a:schemeClr val="dk1"/>
              </a:buClr>
              <a:buSzPts val="1100"/>
              <a:buFont typeface="Arial"/>
              <a:buNone/>
            </a:pPr>
            <a:r>
              <a:rPr lang="en"/>
              <a:t>A formerly </a:t>
            </a:r>
            <a:r>
              <a:rPr lang="en"/>
              <a:t>positive reduced-cost</a:t>
            </a:r>
            <a:r>
              <a:rPr lang="en"/>
              <a:t> route can now have negative reduced cost.</a:t>
            </a:r>
            <a:endParaRPr/>
          </a:p>
          <a:p>
            <a:pPr indent="0" lvl="0" marL="0" rtl="0" algn="l">
              <a:spcBef>
                <a:spcPts val="1200"/>
              </a:spcBef>
              <a:spcAft>
                <a:spcPts val="0"/>
              </a:spcAft>
              <a:buClr>
                <a:schemeClr val="dk1"/>
              </a:buClr>
              <a:buSzPts val="1100"/>
              <a:buFont typeface="Arial"/>
              <a:buNone/>
            </a:pPr>
            <a:r>
              <a:rPr lang="en"/>
              <a:t>The search tries up to 3 alternatives per level and 2 restarts.</a:t>
            </a:r>
            <a:endParaRPr/>
          </a:p>
          <a:p>
            <a:pPr indent="0" lvl="0" marL="0" rtl="0" algn="l">
              <a:spcBef>
                <a:spcPts val="1200"/>
              </a:spcBef>
              <a:spcAft>
                <a:spcPts val="0"/>
              </a:spcAft>
              <a:buClr>
                <a:schemeClr val="dk1"/>
              </a:buClr>
              <a:buSzPts val="1100"/>
              <a:buFont typeface="Arial"/>
              <a:buNone/>
            </a:pPr>
            <a:r>
              <a:rPr lang="en"/>
              <a:t>It is a bounded diving heuristic, not exhaustive branch-and-price.</a:t>
            </a:r>
            <a:endParaRPr/>
          </a:p>
          <a:p>
            <a:pPr indent="0" lvl="0" marL="0" rtl="0" algn="l">
              <a:spcBef>
                <a:spcPts val="1200"/>
              </a:spcBef>
              <a:spcAft>
                <a:spcPts val="12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Paired k=8 test: seven recoveries versus zero</a:t>
            </a:r>
            <a:endParaRPr/>
          </a:p>
        </p:txBody>
      </p:sp>
      <p:graphicFrame>
        <p:nvGraphicFramePr>
          <p:cNvPr id="219" name="Google Shape;219;p39"/>
          <p:cNvGraphicFramePr/>
          <p:nvPr/>
        </p:nvGraphicFramePr>
        <p:xfrm>
          <a:off x="952500" y="1619250"/>
          <a:ext cx="3000000" cy="3000000"/>
        </p:xfrm>
        <a:graphic>
          <a:graphicData uri="http://schemas.openxmlformats.org/drawingml/2006/table">
            <a:tbl>
              <a:tblPr>
                <a:noFill/>
                <a:tableStyleId>{CD285A16-08EB-414C-A3FC-68C5544E96D4}</a:tableStyleId>
              </a:tblPr>
              <a:tblGrid>
                <a:gridCol w="2413000"/>
                <a:gridCol w="2413000"/>
                <a:gridCol w="2413000"/>
              </a:tblGrid>
              <a:tr h="381000">
                <a:tc>
                  <a:txBody>
                    <a:bodyPr/>
                    <a:lstStyle/>
                    <a:p>
                      <a:pPr indent="0" lvl="0" marL="0" rtl="0" algn="l">
                        <a:spcBef>
                          <a:spcPts val="0"/>
                        </a:spcBef>
                        <a:spcAft>
                          <a:spcPts val="0"/>
                        </a:spcAft>
                        <a:buNone/>
                      </a:pPr>
                      <a:r>
                        <a:rPr lang="en" sz="1800"/>
                        <a:t>Chain</a:t>
                      </a:r>
                      <a:endParaRPr sz="1800"/>
                    </a:p>
                  </a:txBody>
                  <a:tcPr marT="91425" marB="91425" marR="91425" marL="91425"/>
                </a:tc>
                <a:tc>
                  <a:txBody>
                    <a:bodyPr/>
                    <a:lstStyle/>
                    <a:p>
                      <a:pPr indent="0" lvl="0" marL="0" rtl="0" algn="l">
                        <a:spcBef>
                          <a:spcPts val="0"/>
                        </a:spcBef>
                        <a:spcAft>
                          <a:spcPts val="0"/>
                        </a:spcAft>
                        <a:buNone/>
                      </a:pPr>
                      <a:r>
                        <a:rPr lang="en" sz="1800"/>
                        <a:t>New pricing hits</a:t>
                      </a:r>
                      <a:endParaRPr sz="1800"/>
                    </a:p>
                  </a:txBody>
                  <a:tcPr marT="91425" marB="91425" marR="91425" marL="91425"/>
                </a:tc>
                <a:tc>
                  <a:txBody>
                    <a:bodyPr/>
                    <a:lstStyle/>
                    <a:p>
                      <a:pPr indent="0" lvl="0" marL="0" rtl="0" algn="l">
                        <a:spcBef>
                          <a:spcPts val="0"/>
                        </a:spcBef>
                        <a:spcAft>
                          <a:spcPts val="0"/>
                        </a:spcAft>
                        <a:buNone/>
                      </a:pPr>
                      <a:r>
                        <a:rPr lang="en" sz="1800"/>
                        <a:t>Unchanged-pool hits</a:t>
                      </a:r>
                      <a:endParaRPr sz="1800"/>
                    </a:p>
                  </a:txBody>
                  <a:tcPr marT="91425" marB="91425" marR="91425" marL="91425"/>
                </a:tc>
              </a:tr>
              <a:tr h="381000">
                <a:tc>
                  <a:txBody>
                    <a:bodyPr/>
                    <a:lstStyle/>
                    <a:p>
                      <a:pPr indent="0" lvl="0" marL="0" rtl="0" algn="l">
                        <a:spcBef>
                          <a:spcPts val="0"/>
                        </a:spcBef>
                        <a:spcAft>
                          <a:spcPts val="0"/>
                        </a:spcAft>
                        <a:buNone/>
                      </a:pPr>
                      <a:r>
                        <a:rPr lang="en" sz="1800"/>
                        <a:t>C1</a:t>
                      </a:r>
                      <a:endParaRPr sz="1800"/>
                    </a:p>
                  </a:txBody>
                  <a:tcPr marT="91425" marB="91425" marR="91425" marL="91425"/>
                </a:tc>
                <a:tc>
                  <a:txBody>
                    <a:bodyPr/>
                    <a:lstStyle/>
                    <a:p>
                      <a:pPr indent="0" lvl="0" marL="0" rtl="0" algn="l">
                        <a:spcBef>
                          <a:spcPts val="0"/>
                        </a:spcBef>
                        <a:spcAft>
                          <a:spcPts val="0"/>
                        </a:spcAft>
                        <a:buNone/>
                      </a:pPr>
                      <a:r>
                        <a:rPr lang="en" sz="1800"/>
                        <a:t>2 / 2</a:t>
                      </a:r>
                      <a:endParaRPr sz="1800"/>
                    </a:p>
                  </a:txBody>
                  <a:tcPr marT="91425" marB="91425" marR="91425" marL="91425"/>
                </a:tc>
                <a:tc>
                  <a:txBody>
                    <a:bodyPr/>
                    <a:lstStyle/>
                    <a:p>
                      <a:pPr indent="0" lvl="0" marL="0" rtl="0" algn="l">
                        <a:spcBef>
                          <a:spcPts val="0"/>
                        </a:spcBef>
                        <a:spcAft>
                          <a:spcPts val="0"/>
                        </a:spcAft>
                        <a:buNone/>
                      </a:pPr>
                      <a:r>
                        <a:rPr lang="en" sz="1800"/>
                        <a:t>0 / 2</a:t>
                      </a:r>
                      <a:endParaRPr sz="1800"/>
                    </a:p>
                  </a:txBody>
                  <a:tcPr marT="91425" marB="91425" marR="91425" marL="91425"/>
                </a:tc>
              </a:tr>
              <a:tr h="381000">
                <a:tc>
                  <a:txBody>
                    <a:bodyPr/>
                    <a:lstStyle/>
                    <a:p>
                      <a:pPr indent="0" lvl="0" marL="0" rtl="0" algn="l">
                        <a:spcBef>
                          <a:spcPts val="0"/>
                        </a:spcBef>
                        <a:spcAft>
                          <a:spcPts val="0"/>
                        </a:spcAft>
                        <a:buNone/>
                      </a:pPr>
                      <a:r>
                        <a:rPr lang="en" sz="1800"/>
                        <a:t>C3</a:t>
                      </a:r>
                      <a:endParaRPr sz="1800"/>
                    </a:p>
                  </a:txBody>
                  <a:tcPr marT="91425" marB="91425" marR="91425" marL="91425"/>
                </a:tc>
                <a:tc>
                  <a:txBody>
                    <a:bodyPr/>
                    <a:lstStyle/>
                    <a:p>
                      <a:pPr indent="0" lvl="0" marL="0" rtl="0" algn="l">
                        <a:spcBef>
                          <a:spcPts val="0"/>
                        </a:spcBef>
                        <a:spcAft>
                          <a:spcPts val="0"/>
                        </a:spcAft>
                        <a:buNone/>
                      </a:pPr>
                      <a:r>
                        <a:rPr lang="en" sz="1800"/>
                        <a:t>2 / 2</a:t>
                      </a:r>
                      <a:endParaRPr sz="1800"/>
                    </a:p>
                  </a:txBody>
                  <a:tcPr marT="91425" marB="91425" marR="91425" marL="91425"/>
                </a:tc>
                <a:tc>
                  <a:txBody>
                    <a:bodyPr/>
                    <a:lstStyle/>
                    <a:p>
                      <a:pPr indent="0" lvl="0" marL="0" rtl="0" algn="l">
                        <a:spcBef>
                          <a:spcPts val="0"/>
                        </a:spcBef>
                        <a:spcAft>
                          <a:spcPts val="0"/>
                        </a:spcAft>
                        <a:buNone/>
                      </a:pPr>
                      <a:r>
                        <a:rPr lang="en" sz="1800"/>
                        <a:t>0 / 2</a:t>
                      </a:r>
                      <a:endParaRPr sz="1800"/>
                    </a:p>
                  </a:txBody>
                  <a:tcPr marT="91425" marB="91425" marR="91425" marL="91425"/>
                </a:tc>
              </a:tr>
              <a:tr h="381000">
                <a:tc>
                  <a:txBody>
                    <a:bodyPr/>
                    <a:lstStyle/>
                    <a:p>
                      <a:pPr indent="0" lvl="0" marL="0" rtl="0" algn="l">
                        <a:spcBef>
                          <a:spcPts val="0"/>
                        </a:spcBef>
                        <a:spcAft>
                          <a:spcPts val="0"/>
                        </a:spcAft>
                        <a:buNone/>
                      </a:pPr>
                      <a:r>
                        <a:rPr lang="en" sz="1800"/>
                        <a:t>C4</a:t>
                      </a:r>
                      <a:endParaRPr sz="1800"/>
                    </a:p>
                  </a:txBody>
                  <a:tcPr marT="91425" marB="91425" marR="91425" marL="91425"/>
                </a:tc>
                <a:tc>
                  <a:txBody>
                    <a:bodyPr/>
                    <a:lstStyle/>
                    <a:p>
                      <a:pPr indent="0" lvl="0" marL="0" rtl="0" algn="l">
                        <a:spcBef>
                          <a:spcPts val="0"/>
                        </a:spcBef>
                        <a:spcAft>
                          <a:spcPts val="0"/>
                        </a:spcAft>
                        <a:buNone/>
                      </a:pPr>
                      <a:r>
                        <a:rPr lang="en" sz="1800"/>
                        <a:t>1 / 2</a:t>
                      </a:r>
                      <a:endParaRPr sz="1800"/>
                    </a:p>
                  </a:txBody>
                  <a:tcPr marT="91425" marB="91425" marR="91425" marL="91425"/>
                </a:tc>
                <a:tc>
                  <a:txBody>
                    <a:bodyPr/>
                    <a:lstStyle/>
                    <a:p>
                      <a:pPr indent="0" lvl="0" marL="0" rtl="0" algn="l">
                        <a:spcBef>
                          <a:spcPts val="0"/>
                        </a:spcBef>
                        <a:spcAft>
                          <a:spcPts val="0"/>
                        </a:spcAft>
                        <a:buNone/>
                      </a:pPr>
                      <a:r>
                        <a:rPr lang="en" sz="1800"/>
                        <a:t>0 / 2</a:t>
                      </a:r>
                      <a:endParaRPr sz="1800"/>
                    </a:p>
                  </a:txBody>
                  <a:tcPr marT="91425" marB="91425" marR="91425" marL="91425"/>
                </a:tc>
              </a:tr>
              <a:tr h="381000">
                <a:tc>
                  <a:txBody>
                    <a:bodyPr/>
                    <a:lstStyle/>
                    <a:p>
                      <a:pPr indent="0" lvl="0" marL="0" rtl="0" algn="l">
                        <a:spcBef>
                          <a:spcPts val="0"/>
                        </a:spcBef>
                        <a:spcAft>
                          <a:spcPts val="0"/>
                        </a:spcAft>
                        <a:buNone/>
                      </a:pPr>
                      <a:r>
                        <a:rPr lang="en" sz="1800"/>
                        <a:t>C5</a:t>
                      </a:r>
                      <a:endParaRPr sz="1800"/>
                    </a:p>
                  </a:txBody>
                  <a:tcPr marT="91425" marB="91425" marR="91425" marL="91425"/>
                </a:tc>
                <a:tc>
                  <a:txBody>
                    <a:bodyPr/>
                    <a:lstStyle/>
                    <a:p>
                      <a:pPr indent="0" lvl="0" marL="0" rtl="0" algn="l">
                        <a:spcBef>
                          <a:spcPts val="0"/>
                        </a:spcBef>
                        <a:spcAft>
                          <a:spcPts val="0"/>
                        </a:spcAft>
                        <a:buNone/>
                      </a:pPr>
                      <a:r>
                        <a:rPr lang="en" sz="1800"/>
                        <a:t>2 / 2</a:t>
                      </a:r>
                      <a:endParaRPr sz="1800"/>
                    </a:p>
                  </a:txBody>
                  <a:tcPr marT="91425" marB="91425" marR="91425" marL="91425"/>
                </a:tc>
                <a:tc>
                  <a:txBody>
                    <a:bodyPr/>
                    <a:lstStyle/>
                    <a:p>
                      <a:pPr indent="0" lvl="0" marL="0" rtl="0" algn="l">
                        <a:spcBef>
                          <a:spcPts val="0"/>
                        </a:spcBef>
                        <a:spcAft>
                          <a:spcPts val="0"/>
                        </a:spcAft>
                        <a:buNone/>
                      </a:pPr>
                      <a:r>
                        <a:rPr lang="en" sz="1800"/>
                        <a:t>0 / 2</a:t>
                      </a:r>
                      <a:endParaRPr sz="1800"/>
                    </a:p>
                  </a:txBody>
                  <a:tcPr marT="91425" marB="91425" marR="91425" marL="91425"/>
                </a:tc>
              </a:tr>
            </a:tbl>
          </a:graphicData>
        </a:graphic>
      </p:graphicFrame>
      <p:sp>
        <p:nvSpPr>
          <p:cNvPr id="220" name="Google Shape;220;p39"/>
          <p:cNvSpPr txBox="1"/>
          <p:nvPr/>
        </p:nvSpPr>
        <p:spPr>
          <a:xfrm>
            <a:off x="422150" y="4165900"/>
            <a:ext cx="8331900" cy="87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chemeClr val="dk2"/>
                </a:solidFill>
              </a:rPr>
              <a:t>All seven hits: 8 buses and finite-pool bound 8.</a:t>
            </a:r>
            <a:endParaRPr sz="1600">
              <a:solidFill>
                <a:schemeClr val="dk2"/>
              </a:solidFill>
            </a:endParaRPr>
          </a:p>
          <a:p>
            <a:pPr indent="0" lvl="0" marL="0" rtl="0" algn="l">
              <a:spcBef>
                <a:spcPts val="0"/>
              </a:spcBef>
              <a:spcAft>
                <a:spcPts val="0"/>
              </a:spcAft>
              <a:buClr>
                <a:schemeClr val="dk1"/>
              </a:buClr>
              <a:buSzPts val="1100"/>
              <a:buFont typeface="Arial"/>
              <a:buNone/>
            </a:pPr>
            <a:r>
              <a:rPr lang="en" sz="1600">
                <a:solidFill>
                  <a:schemeClr val="dk2"/>
                </a:solidFill>
              </a:rPr>
              <a:t>Treatment includes new columns and its own incumbent start.</a:t>
            </a:r>
            <a:endParaRPr sz="1600">
              <a:solidFill>
                <a:schemeClr val="dk2"/>
              </a:solidFill>
            </a:endParaRPr>
          </a:p>
          <a:p>
            <a:pPr indent="0" lvl="0" marL="0" rtl="0" algn="l">
              <a:spcBef>
                <a:spcPts val="0"/>
              </a:spcBef>
              <a:spcAft>
                <a:spcPts val="0"/>
              </a:spcAft>
              <a:buClr>
                <a:schemeClr val="dk1"/>
              </a:buClr>
              <a:buSzPts val="1100"/>
              <a:buFont typeface="Arial"/>
              <a:buNone/>
            </a:pPr>
            <a:r>
              <a:rPr lang="en" sz="1600">
                <a:solidFill>
                  <a:schemeClr val="dk2"/>
                </a:solidFill>
              </a:rPr>
              <a:t>Four selected instances, each repeated with two solver seeds.</a:t>
            </a:r>
            <a:endParaRPr sz="1600">
              <a:solidFill>
                <a:schemeClr val="dk2"/>
              </a:solidFill>
            </a:endParaRPr>
          </a:p>
          <a:p>
            <a:pPr indent="0" lvl="0" marL="0" rtl="0" algn="l">
              <a:spcBef>
                <a:spcPts val="0"/>
              </a:spcBef>
              <a:spcAft>
                <a:spcPts val="0"/>
              </a:spcAft>
              <a:buNone/>
            </a:pPr>
            <a:r>
              <a:t/>
            </a:r>
            <a:endParaRPr sz="160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the new pricing test establishes</a:t>
            </a:r>
            <a:endParaRPr/>
          </a:p>
        </p:txBody>
      </p:sp>
      <p:sp>
        <p:nvSpPr>
          <p:cNvPr id="226" name="Google Shape;226;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
              <a:t>The method generated useful routes without importing known covers.</a:t>
            </a:r>
            <a:endParaRPr/>
          </a:p>
          <a:p>
            <a:pPr indent="0" lvl="0" marL="0" rtl="0" algn="l">
              <a:spcBef>
                <a:spcPts val="1200"/>
              </a:spcBef>
              <a:spcAft>
                <a:spcPts val="0"/>
              </a:spcAft>
              <a:buClr>
                <a:schemeClr val="dk1"/>
              </a:buClr>
              <a:buSzPts val="1100"/>
              <a:buFont typeface="Arial"/>
              <a:buNone/>
            </a:pPr>
            <a:r>
              <a:rPr lang="en"/>
              <a:t>Five controls proved nine buses in their unchanged pools.</a:t>
            </a:r>
            <a:endParaRPr/>
          </a:p>
          <a:p>
            <a:pPr indent="0" lvl="0" marL="0" rtl="0" algn="l">
              <a:spcBef>
                <a:spcPts val="1200"/>
              </a:spcBef>
              <a:spcAft>
                <a:spcPts val="0"/>
              </a:spcAft>
              <a:buClr>
                <a:schemeClr val="dk1"/>
              </a:buClr>
              <a:buSzPts val="1100"/>
              <a:buFont typeface="Arial"/>
              <a:buNone/>
            </a:pPr>
            <a:r>
              <a:rPr lang="en"/>
              <a:t>The treatment’s only miss ended at nine with bound eight, still open.</a:t>
            </a:r>
            <a:endParaRPr/>
          </a:p>
          <a:p>
            <a:pPr indent="0" lvl="0" marL="0" rtl="0" algn="l">
              <a:spcBef>
                <a:spcPts val="1200"/>
              </a:spcBef>
              <a:spcAft>
                <a:spcPts val="0"/>
              </a:spcAft>
              <a:buClr>
                <a:schemeClr val="dk1"/>
              </a:buClr>
              <a:buSzPts val="1100"/>
              <a:buFont typeface="Arial"/>
              <a:buNone/>
            </a:pPr>
            <a:r>
              <a:rPr lang="en"/>
              <a:t>Each pair shares a nominal one-hour dive-plus-solver budget.</a:t>
            </a:r>
            <a:endParaRPr/>
          </a:p>
          <a:p>
            <a:pPr indent="0" lvl="0" marL="0" rtl="0" algn="l">
              <a:spcBef>
                <a:spcPts val="1200"/>
              </a:spcBef>
              <a:spcAft>
                <a:spcPts val="0"/>
              </a:spcAft>
              <a:buClr>
                <a:schemeClr val="dk1"/>
              </a:buClr>
              <a:buSzPts val="1100"/>
              <a:buFont typeface="Arial"/>
              <a:buNone/>
            </a:pPr>
            <a:r>
              <a:rPr lang="en"/>
              <a:t>Seven successful runs took 14.1–35.4 minutes including setup.</a:t>
            </a:r>
            <a:endParaRPr/>
          </a:p>
          <a:p>
            <a:pPr indent="0" lvl="0" marL="0" rtl="0" algn="l">
              <a:spcBef>
                <a:spcPts val="1200"/>
              </a:spcBef>
              <a:spcAft>
                <a:spcPts val="0"/>
              </a:spcAft>
              <a:buClr>
                <a:schemeClr val="dk1"/>
              </a:buClr>
              <a:buSzPts val="1100"/>
              <a:buFont typeface="Arial"/>
              <a:buNone/>
            </a:pPr>
            <a:r>
              <a:rPr lang="en"/>
              <a:t>Physics remains 240 kWh / 240 kW, with no shared capacity.</a:t>
            </a:r>
            <a:endParaRPr/>
          </a:p>
          <a:p>
            <a:pPr indent="0" lvl="0" marL="0" rtl="0" algn="l">
              <a:spcBef>
                <a:spcPts val="1200"/>
              </a:spcBef>
              <a:spcAft>
                <a:spcPts val="0"/>
              </a:spcAft>
              <a:buClr>
                <a:schemeClr val="dk1"/>
              </a:buClr>
              <a:buSzPts val="1100"/>
              <a:buFont typeface="Arial"/>
              <a:buNone/>
            </a:pPr>
            <a:r>
              <a:rPr lang="en"/>
              <a:t>Duplicate service remains in six hits. Global optimality is unproved.</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