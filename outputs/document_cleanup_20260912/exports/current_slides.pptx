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BC5BF3-CCFA-4769-9BBA-56DB5D9FD4E0}">
  <a:tblStyle styleId="{92BC5BF3-CCFA-4769-9BBA-56DB5D9FD4E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status from 12 September00:20EDT snapshot. New overnight jobs are running,not completed scientific results. Main document: https://docs.google.com/document/d/1hDSWYb2KG-8pnLFN9BdSKkbXOjhytm4bxQz_MsBw_BY/edit . Historical document: https://docs.google.com/document/d/1f0orWtM1-_VWAqjj6GnWP78webCOnvoc01x2VQvaA_k/edit . Original21-slide meeting deck preserved in EVSP DR Slide Archive10September2026.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8ce835f61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8ce835f61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current chain tables, 12 September 2026. Fresh covering, 240 kWh / 240 kW. Integer incumbents with varying finite-pool proof status. No shared-capacity or return-energy constraints.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8ce835f61_2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8ce835f61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Snapshot 12 September 2026 00:20 EDT. Inherited columns, set covering, 240 kWh / 240 kW. All six chains match k=3 through 6. Three chains (3, 5, 6) match k=10. Chain 5 at k=2 uses three buses. Dashes mean no completed verified cell, not infeasibility. Displayed fleet minima are proved only within saved pools. Individual column physical replay passed; duplicate-trip cleanup and aggregate shared-charger validation are separate. Current experiments extend to k=15 using bounded replay as a new treatment. Full k=2–10 native table and records are in the Current results document.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8ce835f61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8ce835f61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Pilot:2 single-duty cases13408/13406, k2=23trips,k3=35trips. Opportunity sites have proposed documented capacities,PARX uncapped. Opportunity240kW;PARX60 only in named arms. Zero reserve,no65%return-SOC floor. Capacity sweeps passed for capacity solutions; duplicate removal remains unvalidated. Sources CURRENT_CHAIN_TABLES.md and capacity_deadline5_completed/records.json.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8ce835f61_8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8ce835f61_8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Completed full-pool inherited runs for chains 3 and 5. Import includes physical replay and validation. Other CG work includes optimization and remaining overhead; final MIP time is excluded. Source: outputs/overnight_extension_20260912/cluster_snapshot.json. New bounded replay is a changed initialization treatment, not a completed speedup claim.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8ce835f61_6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8ce835f61_6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Matched covering comparison, chain3 k8. Both final weighted LP objectives800212.68747, sum lambda8,zero artificial coverage,same reduced-cost tolerance. Fresh saved-pool optimum9 vs inherited8. Source existing current research doc export and register source records. Pricing certificate concerns represented LP; finite-pool fleet proof remains distinct from full-model integer optimality.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8ce835f61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8ce835f61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240 kWh batteries, 350 kW charging, five buses, no shared charger capacity. Costs include electricity and five units per charging start. Original repriced charging interval: 490.287–490.981 at 08:00, 549.594–550.597 at 12:00, 483.447–483.723 at 18:00. Physical replay: fixed duties 275.873, 328.548, 230.782; joint 257.687, 328.359, 215.756. Both noon grid objectives are 332.025525. Fixed duties preserve each trip sequence and optimize charging with DP; joint changes trip assignment using the saved augmented route pool. Fleet and cost optimality are finite-pool claims. No full-model pricing certificate under the new terminal-energy constraint. Source: terminal_energy_fair_mip_retry_5cdb813_20260910 comparisons; figure_provenance.json.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8ce835f61_2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8ce835f61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Execution a29992196acb74d02b8c7891be4061718889999f. Campaign overnight_extension_20260912. Default partition,CPU-only excludes scaglione-compute-01. MIP requeue records job/restart attempts; no Gurobi search-tree resume. k data dependencies preserved. Baseline covering physics,no shared capacity or returnSOCfloor. GIRO duty membership defines groups; GIRO schedule columns are not injected.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8ce835f61_9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8ce835f61_9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GIRO parent: 40 duties, 948 trips. Map includes 838 trips; PARX and 110 trips with unmapped endpoints are omitted. Route 21 has 14 duties and 203 trips; local services have 26 duties and 745 trips. Optimistic &lt;=30-minute-wait timetable screen finds 23,959 connections, including 7,561 cross-group (31.56%); all trips are in one undirected component. The screen ignores SOC and charging, so geography does not establish independent subproblems. Current decomposition pilot instead uses a 32-duty / 750-trip subset split into four groups of eight. Combine component columns, validate shared resources, and run global CG to allow cross-group exchanges.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22150" y="488800"/>
            <a:ext cx="82206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333333"/>
                </a:solidFill>
              </a:rPr>
              <a:t>EVSP DR Current Research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22150" y="1310875"/>
            <a:ext cx="82206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</a:rPr>
              <a:t>12 September 2026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22150" y="2221825"/>
            <a:ext cx="8331900" cy="21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333333"/>
                </a:solidFill>
              </a:rPr>
              <a:t>Inherited covering matches k=3–6 in all six chains.</a:t>
            </a:r>
            <a:endParaRPr sz="22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333333"/>
                </a:solidFill>
              </a:rPr>
              <a:t>Three chains now match ten buses at k=10.</a:t>
            </a:r>
            <a:endParaRPr sz="22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333333"/>
                </a:solidFill>
              </a:rPr>
              <a:t>Remaining questions: initialization cost, capacity pricing</a:t>
            </a:r>
            <a:endParaRPr sz="22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33333"/>
                </a:solidFill>
              </a:rPr>
              <a:t>and whether decomposition helps larger instances.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14"/>
          <p:cNvGraphicFramePr/>
          <p:nvPr/>
        </p:nvGraphicFramePr>
        <p:xfrm>
          <a:off x="161925" y="126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{92BC5BF3-CCFA-4769-9BBA-56DB5D9FD4E0}</a:tableStyleId>
              </a:tblPr>
              <a:tblGrid>
                <a:gridCol w="1733550"/>
                <a:gridCol w="1181100"/>
                <a:gridCol w="1181100"/>
                <a:gridCol w="1181100"/>
                <a:gridCol w="1181100"/>
                <a:gridCol w="1181100"/>
                <a:gridCol w="1181100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Target buses</a:t>
                      </a:r>
                      <a:endParaRPr b="1" sz="1100"/>
                    </a:p>
                  </a:txBody>
                  <a:tcPr marT="66675" marB="66675" marR="66675" marL="6667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Chain 1</a:t>
                      </a:r>
                      <a:endParaRPr b="1" sz="1100"/>
                    </a:p>
                  </a:txBody>
                  <a:tcPr marT="66675" marB="66675" marR="66675" marL="6667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Chain 2</a:t>
                      </a:r>
                      <a:endParaRPr b="1" sz="1100"/>
                    </a:p>
                  </a:txBody>
                  <a:tcPr marT="66675" marB="66675" marR="66675" marL="6667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Chain 3</a:t>
                      </a:r>
                      <a:endParaRPr b="1" sz="1100"/>
                    </a:p>
                  </a:txBody>
                  <a:tcPr marT="66675" marB="66675" marR="66675" marL="6667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Chain 4</a:t>
                      </a:r>
                      <a:endParaRPr b="1" sz="1100"/>
                    </a:p>
                  </a:txBody>
                  <a:tcPr marT="66675" marB="66675" marR="66675" marL="6667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Chain 5</a:t>
                      </a:r>
                      <a:endParaRPr b="1" sz="1100"/>
                    </a:p>
                  </a:txBody>
                  <a:tcPr marT="66675" marB="66675" marR="66675" marL="6667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Chain 6</a:t>
                      </a:r>
                      <a:endParaRPr b="1" sz="1100"/>
                    </a:p>
                  </a:txBody>
                  <a:tcPr marT="66675" marB="66675" marR="66675" marL="6667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C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CD"/>
                    </a:solidFill>
                  </a:tcPr>
                </a:tc>
              </a:tr>
            </a:tbl>
          </a:graphicData>
        </a:graphic>
      </p:graphicFrame>
      <p:sp>
        <p:nvSpPr>
          <p:cNvPr id="62" name="Google Shape;62;p14"/>
          <p:cNvSpPr txBox="1"/>
          <p:nvPr/>
        </p:nvSpPr>
        <p:spPr>
          <a:xfrm>
            <a:off x="422150" y="377700"/>
            <a:ext cx="83319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33333"/>
                </a:solidFill>
              </a:rPr>
              <a:t>Fresh starts need extra buses as k grows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22150" y="3777075"/>
            <a:ext cx="83319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</a:rPr>
              <a:t>Integer incumbents from all 84 completed fresh covering cases.</a:t>
            </a:r>
            <a:endParaRPr sz="16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</a:rPr>
              <a:t>Each size starts independently. MIP proof status varies by cell.</a:t>
            </a:r>
            <a:endParaRPr sz="16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</a:rPr>
              <a:t>The current document contains the full chain tables and source records.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Google Shape;69;p15"/>
          <p:cNvGraphicFramePr/>
          <p:nvPr/>
        </p:nvGraphicFramePr>
        <p:xfrm>
          <a:off x="161925" y="126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{92BC5BF3-CCFA-4769-9BBA-56DB5D9FD4E0}</a:tableStyleId>
              </a:tblPr>
              <a:tblGrid>
                <a:gridCol w="1733550"/>
                <a:gridCol w="1181100"/>
                <a:gridCol w="1181100"/>
                <a:gridCol w="1181100"/>
                <a:gridCol w="1181100"/>
                <a:gridCol w="1181100"/>
                <a:gridCol w="1181100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Target buses</a:t>
                      </a:r>
                      <a:endParaRPr b="1" sz="1100"/>
                    </a:p>
                  </a:txBody>
                  <a:tcPr marT="66675" marB="66675" marR="66675" marL="6667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Chain 1</a:t>
                      </a:r>
                      <a:endParaRPr b="1" sz="1100"/>
                    </a:p>
                  </a:txBody>
                  <a:tcPr marT="66675" marB="66675" marR="66675" marL="6667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Chain 2</a:t>
                      </a:r>
                      <a:endParaRPr b="1" sz="1100"/>
                    </a:p>
                  </a:txBody>
                  <a:tcPr marT="66675" marB="66675" marR="66675" marL="6667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Chain 3</a:t>
                      </a:r>
                      <a:endParaRPr b="1" sz="1100"/>
                    </a:p>
                  </a:txBody>
                  <a:tcPr marT="66675" marB="66675" marR="66675" marL="6667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Chain 4</a:t>
                      </a:r>
                      <a:endParaRPr b="1" sz="1100"/>
                    </a:p>
                  </a:txBody>
                  <a:tcPr marT="66675" marB="66675" marR="66675" marL="6667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Chain 5</a:t>
                      </a:r>
                      <a:endParaRPr b="1" sz="1100"/>
                    </a:p>
                  </a:txBody>
                  <a:tcPr marT="66675" marB="66675" marR="66675" marL="6667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Chain 6</a:t>
                      </a:r>
                      <a:endParaRPr b="1" sz="1100"/>
                    </a:p>
                  </a:txBody>
                  <a:tcPr marT="66675" marB="66675" marR="66675" marL="6667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6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—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—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—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—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57150" marB="57150" marR="57150" marL="5715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2E3"/>
                    </a:solidFill>
                  </a:tcPr>
                </a:tc>
              </a:tr>
            </a:tbl>
          </a:graphicData>
        </a:graphic>
      </p:graphicFrame>
      <p:sp>
        <p:nvSpPr>
          <p:cNvPr id="70" name="Google Shape;70;p15"/>
          <p:cNvSpPr txBox="1"/>
          <p:nvPr/>
        </p:nvSpPr>
        <p:spPr>
          <a:xfrm>
            <a:off x="422150" y="377700"/>
            <a:ext cx="83319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33333"/>
                </a:solidFill>
              </a:rPr>
              <a:t>Inherited columns improve integer fleet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22150" y="3777075"/>
            <a:ext cx="83319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</a:rPr>
              <a:t>Cells show integer buses. Grey means unfinished. k=11–15 is running.</a:t>
            </a:r>
            <a:endParaRPr sz="16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</a:rPr>
              <a:t>All displayed fleet optima are proved within their saved pools.</a:t>
            </a:r>
            <a:endParaRPr sz="16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</a:rPr>
              <a:t>240 kWh / 240 kW, covering. Shared charger capacity is not imposed.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16"/>
          <p:cNvGraphicFramePr/>
          <p:nvPr/>
        </p:nvGraphicFramePr>
        <p:xfrm>
          <a:off x="152400" y="126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{92BC5BF3-CCFA-4769-9BBA-56DB5D9FD4E0}</a:tableStyleId>
              </a:tblPr>
              <a:tblGrid>
                <a:gridCol w="1752600"/>
                <a:gridCol w="1771650"/>
                <a:gridCol w="2409825"/>
                <a:gridCol w="1790700"/>
                <a:gridCol w="1114425"/>
              </a:tblGrid>
              <a:tr h="400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Target</a:t>
                      </a:r>
                      <a:endParaRPr b="1" sz="1600"/>
                    </a:p>
                  </a:txBody>
                  <a:tcPr marT="76200" marB="76200" marR="76200" marL="7620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Baseline</a:t>
                      </a:r>
                      <a:endParaRPr b="1" sz="1600"/>
                    </a:p>
                  </a:txBody>
                  <a:tcPr marT="76200" marB="76200" marR="76200" marL="7620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PARX 60 kW</a:t>
                      </a:r>
                      <a:endParaRPr b="1" sz="1600"/>
                    </a:p>
                  </a:txBody>
                  <a:tcPr marT="76200" marB="76200" marR="76200" marL="7620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Capacity</a:t>
                      </a:r>
                      <a:endParaRPr b="1" sz="1600"/>
                    </a:p>
                  </a:txBody>
                  <a:tcPr marT="76200" marB="76200" marR="76200" marL="7620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Both</a:t>
                      </a:r>
                      <a:endParaRPr b="1" sz="1600"/>
                    </a:p>
                  </a:txBody>
                  <a:tcPr marT="76200" marB="76200" marR="76200" marL="7620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1, duty A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1, duty B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2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2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2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3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3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3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3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3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16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16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7" name="Google Shape;77;p16"/>
          <p:cNvSpPr txBox="1"/>
          <p:nvPr/>
        </p:nvSpPr>
        <p:spPr>
          <a:xfrm>
            <a:off x="422150" y="377700"/>
            <a:ext cx="84429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33333"/>
                </a:solidFill>
              </a:rPr>
              <a:t>Station capacity exposes a pricing bottleneck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422150" y="3843750"/>
            <a:ext cx="8331900" cy="11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</a:rPr>
              <a:t>k=3: one pricing call took 7.15 hours; the LP took 0.006 seconds.</a:t>
            </a:r>
            <a:endParaRPr sz="16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</a:rPr>
              <a:t>CG stopped uncertified with only three new columns.</a:t>
            </a:r>
            <a:endParaRPr sz="16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</a:rPr>
              <a:t>The 16-bus pool result does not prove that 16 buses are necessary.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import_time_current_sli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138" y="996675"/>
            <a:ext cx="8115727" cy="332474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22150" y="344375"/>
            <a:ext cx="8387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33333"/>
                </a:solidFill>
              </a:rPr>
              <a:t>Importing columns dominates warm-run 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22150" y="4454750"/>
            <a:ext cx="83319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333"/>
                </a:solidFill>
              </a:rPr>
              <a:t>Full predecessor pools were replayed here. The new overnight treatment caps replay at 512 sequences / 15 minutes; results are pending.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Google Shape;90;p18"/>
          <p:cNvGraphicFramePr/>
          <p:nvPr/>
        </p:nvGraphicFramePr>
        <p:xfrm>
          <a:off x="152400" y="126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{92BC5BF3-CCFA-4769-9BBA-56DB5D9FD4E0}</a:tableStyleId>
              </a:tblPr>
              <a:tblGrid>
                <a:gridCol w="4171950"/>
                <a:gridCol w="2333625"/>
                <a:gridCol w="2333625"/>
              </a:tblGrid>
              <a:tr h="400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Chain 3 at k=8</a:t>
                      </a:r>
                      <a:endParaRPr b="1" sz="1600"/>
                    </a:p>
                  </a:txBody>
                  <a:tcPr marT="76200" marB="76200" marR="76200" marL="7620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Fresh pool</a:t>
                      </a:r>
                      <a:endParaRPr b="1" sz="1600"/>
                    </a:p>
                  </a:txBody>
                  <a:tcPr marT="76200" marB="76200" marR="76200" marL="7620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Inherited pool</a:t>
                      </a:r>
                      <a:endParaRPr b="1" sz="1600"/>
                    </a:p>
                  </a:txBody>
                  <a:tcPr marT="76200" marB="76200" marR="76200" marL="7620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Weighted LP objective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800,212.68747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800,212.68747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Fractional route weight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8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8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Integer fleet optimum in pool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9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8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8"/>
          <p:cNvSpPr txBox="1"/>
          <p:nvPr/>
        </p:nvSpPr>
        <p:spPr>
          <a:xfrm>
            <a:off x="422150" y="377700"/>
            <a:ext cx="84429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33333"/>
                </a:solidFill>
              </a:rPr>
              <a:t>The same LP can support different integer pools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422150" y="3777075"/>
            <a:ext cx="83319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</a:rPr>
              <a:t>Both CG runs met the same reduced-cost stopping tolerance.</a:t>
            </a:r>
            <a:endParaRPr sz="16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</a:rPr>
              <a:t>The unchanged fresh pool cannot reach eight buses with more MIP time.</a:t>
            </a:r>
            <a:endParaRPr sz="16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</a:rPr>
              <a:t>This isolates a column-pool limitation for this case.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charging_current_sli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138" y="996675"/>
            <a:ext cx="8115727" cy="332474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22150" y="344375"/>
            <a:ext cx="8387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33333"/>
                </a:solidFill>
              </a:rPr>
              <a:t>Charging savings with matched return energy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422150" y="4454750"/>
            <a:ext cx="83319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333"/>
                </a:solidFill>
              </a:rPr>
              <a:t>Five buses / 62 trips. Both optimized cases return ≥280.7833 kWh in total. At noon, grid objectives tie; physical replay costs differ slightly.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/>
        </p:nvSpPr>
        <p:spPr>
          <a:xfrm>
            <a:off x="422150" y="377700"/>
            <a:ext cx="83319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33333"/>
                </a:solidFill>
              </a:rPr>
              <a:t>The overnight experiments answer three questions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105" name="Google Shape;105;p20"/>
          <p:cNvGraphicFramePr/>
          <p:nvPr/>
        </p:nvGraphicFramePr>
        <p:xfrm>
          <a:off x="152400" y="142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{92BC5BF3-CCFA-4769-9BBA-56DB5D9FD4E0}</a:tableStyleId>
              </a:tblPr>
              <a:tblGrid>
                <a:gridCol w="3600450"/>
                <a:gridCol w="5238750"/>
              </a:tblGrid>
              <a:tr h="400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Question</a:t>
                      </a:r>
                      <a:endParaRPr b="1" sz="1600"/>
                    </a:p>
                  </a:txBody>
                  <a:tcPr marT="76200" marB="76200" marR="76200" marL="7620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Experiment</a:t>
                      </a:r>
                      <a:endParaRPr b="1" sz="1600"/>
                    </a:p>
                  </a:txBody>
                  <a:tcPr marT="76200" marB="76200" marR="76200" marL="76200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DF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Can inheritance scale?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Six chains continue to k=15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Does decomposition help?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Ten partitions of 32 duties into groups of eight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Can recombination improve it?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Global CG starts from component routes</a:t>
                      </a:r>
                      <a:endParaRPr sz="1600"/>
                    </a:p>
                  </a:txBody>
                  <a:tcPr marT="85725" marB="85725" marR="85725" marL="85725">
                    <a:lnL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" name="Google Shape;106;p20"/>
          <p:cNvSpPr txBox="1"/>
          <p:nvPr/>
        </p:nvSpPr>
        <p:spPr>
          <a:xfrm>
            <a:off x="422150" y="3799300"/>
            <a:ext cx="8442900" cy="11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</a:rPr>
              <a:t>87 CG cases and 87 dependent one-hour MIPs, all on default_partition.</a:t>
            </a:r>
            <a:endParaRPr sz="16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333333"/>
                </a:solidFill>
              </a:rPr>
              <a:t>Bounded replay is a new treatment: ≤512 sequences and ≤15 minutes.</a:t>
            </a:r>
            <a:endParaRPr sz="16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</a:rPr>
              <a:t>No new k=11–15 or decomposition result is claimed yet.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 title="charger_geograph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538" y="907800"/>
            <a:ext cx="6672927" cy="355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422150" y="344375"/>
            <a:ext cx="83874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33333"/>
                </a:solidFill>
              </a:rPr>
              <a:t>Geography suggests groups, not independence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422150" y="4454750"/>
            <a:ext cx="83319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333"/>
                </a:solidFill>
              </a:rPr>
              <a:t>838 of 948 trips mapped; lines join endpoints, not road paths. Timetable connections still cross groups. Map data: OpenStreetMap.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